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7" r:id="rId2"/>
    <p:sldId id="269" r:id="rId3"/>
    <p:sldId id="270" r:id="rId4"/>
    <p:sldId id="27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75" d="100"/>
          <a:sy n="75" d="100"/>
        </p:scale>
        <p:origin x="77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54A2B-97ED-4CD1-A18D-F541416D0FBB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8BBC8-FF19-4286-A312-8783D43E5F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440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6806" y="2130426"/>
            <a:ext cx="6281336" cy="1470025"/>
          </a:xfrm>
        </p:spPr>
        <p:txBody>
          <a:bodyPr/>
          <a:lstStyle>
            <a:lvl1pPr algn="l">
              <a:defRPr sz="2800">
                <a:solidFill>
                  <a:srgbClr val="96000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06805" y="3886200"/>
            <a:ext cx="6281337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B20DD-CA67-462C-BCC1-0BE3D5318635}" type="datetime1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2A87-89BD-426E-BD36-73D47B0CB88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 contrast="40000"/>
          </a:blip>
          <a:stretch>
            <a:fillRect/>
          </a:stretch>
        </p:blipFill>
        <p:spPr>
          <a:xfrm>
            <a:off x="0" y="2245641"/>
            <a:ext cx="5806806" cy="236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91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51" y="101814"/>
            <a:ext cx="10080000" cy="828000"/>
          </a:xfrm>
        </p:spPr>
        <p:txBody>
          <a:bodyPr/>
          <a:lstStyle>
            <a:lvl1pPr>
              <a:defRPr sz="2800">
                <a:solidFill>
                  <a:srgbClr val="960000"/>
                </a:solidFill>
                <a:latin typeface="+mj-lt"/>
                <a:cs typeface="Helvetic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151" y="1168400"/>
            <a:ext cx="11880000" cy="4998706"/>
          </a:xfrm>
        </p:spPr>
        <p:txBody>
          <a:bodyPr>
            <a:normAutofit/>
          </a:bodyPr>
          <a:lstStyle>
            <a:lvl1pPr>
              <a:defRPr sz="2000">
                <a:latin typeface="+mj-lt"/>
                <a:cs typeface="Helvetica" pitchFamily="34" charset="0"/>
              </a:defRPr>
            </a:lvl1pPr>
            <a:lvl2pPr>
              <a:defRPr sz="2000">
                <a:latin typeface="+mj-lt"/>
                <a:cs typeface="Helvetica" pitchFamily="34" charset="0"/>
              </a:defRPr>
            </a:lvl2pPr>
            <a:lvl3pPr>
              <a:defRPr sz="2000">
                <a:latin typeface="+mj-lt"/>
                <a:cs typeface="Helvetica" pitchFamily="34" charset="0"/>
              </a:defRPr>
            </a:lvl3pPr>
            <a:lvl4pPr>
              <a:defRPr sz="2000">
                <a:latin typeface="+mj-lt"/>
                <a:cs typeface="Helvetica" pitchFamily="34" charset="0"/>
              </a:defRPr>
            </a:lvl4pPr>
            <a:lvl5pPr>
              <a:defRPr sz="2000">
                <a:latin typeface="+mj-lt"/>
                <a:cs typeface="Helvetic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1656" y="6443435"/>
            <a:ext cx="2532744" cy="365125"/>
          </a:xfrm>
        </p:spPr>
        <p:txBody>
          <a:bodyPr anchor="b"/>
          <a:lstStyle/>
          <a:p>
            <a:fld id="{D6EFB1CB-8C6F-4A11-B8E8-B39738AAD4D6}" type="datetime1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43435"/>
            <a:ext cx="3860800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3343" y="6443435"/>
            <a:ext cx="2844800" cy="365125"/>
          </a:xfrm>
        </p:spPr>
        <p:txBody>
          <a:bodyPr lIns="0" tIns="0" rIns="0" bIns="0" anchor="b"/>
          <a:lstStyle/>
          <a:p>
            <a:fld id="{B19B2A87-89BD-426E-BD36-73D47B0CB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77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:a16="http://schemas.microsoft.com/office/drawing/2014/main" id="{BBC0CAF5-0DE6-4BEA-824E-124A54A76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:a16="http://schemas.microsoft.com/office/drawing/2014/main" id="{ED008080-B2F5-441A-8B15-30AE86BB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53151" y="101814"/>
            <a:ext cx="10080000" cy="828000"/>
          </a:xfrm>
        </p:spPr>
        <p:txBody>
          <a:bodyPr/>
          <a:lstStyle>
            <a:lvl1pPr>
              <a:defRPr sz="2800">
                <a:solidFill>
                  <a:srgbClr val="960000"/>
                </a:solidFill>
                <a:latin typeface="+mj-lt"/>
                <a:cs typeface="Helvetic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50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3151" y="101814"/>
            <a:ext cx="10080000" cy="828000"/>
          </a:xfrm>
        </p:spPr>
        <p:txBody>
          <a:bodyPr/>
          <a:lstStyle>
            <a:lvl1pPr>
              <a:defRPr sz="2800">
                <a:solidFill>
                  <a:srgbClr val="960000"/>
                </a:solidFill>
                <a:latin typeface="+mj-lt"/>
                <a:cs typeface="Helvetic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2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:a16="http://schemas.microsoft.com/office/drawing/2014/main" id="{3E8A46E0-47C2-4441-B7DD-F621A80F1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53151" y="101814"/>
            <a:ext cx="10080000" cy="828000"/>
          </a:xfrm>
        </p:spPr>
        <p:txBody>
          <a:bodyPr/>
          <a:lstStyle>
            <a:lvl1pPr>
              <a:defRPr sz="2800">
                <a:solidFill>
                  <a:srgbClr val="960000"/>
                </a:solidFill>
                <a:latin typeface="+mj-lt"/>
                <a:cs typeface="Helvetic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40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38867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31819" y="184822"/>
            <a:ext cx="9968249" cy="626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</a:t>
            </a:r>
            <a:endParaRPr lang="en-IN"/>
          </a:p>
        </p:txBody>
      </p:sp>
      <p:sp>
        <p:nvSpPr>
          <p:cNvPr id="9" name="Text Placeholder 2"/>
          <p:cNvSpPr>
            <a:spLocks noGrp="1"/>
          </p:cNvSpPr>
          <p:nvPr>
            <p:ph idx="1"/>
          </p:nvPr>
        </p:nvSpPr>
        <p:spPr>
          <a:xfrm>
            <a:off x="472225" y="1271833"/>
            <a:ext cx="112475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Insert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67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DA03-CFA1-42F2-A59E-8BF703A43F61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2FA2-07CF-4136-986F-835307FCA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64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87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:\Users\ibl4660\AppData\Local\Temp\Rar$DI31.784\ppt_inside_1.jpg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" t="87991" r="92563" b="770"/>
          <a:stretch/>
        </p:blipFill>
        <p:spPr bwMode="auto">
          <a:xfrm>
            <a:off x="7257" y="6125029"/>
            <a:ext cx="576000" cy="67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151" y="101814"/>
            <a:ext cx="10080000" cy="82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151" y="1176350"/>
            <a:ext cx="11880000" cy="4932000"/>
          </a:xfrm>
          <a:prstGeom prst="rect">
            <a:avLst/>
          </a:prstGeom>
        </p:spPr>
        <p:txBody>
          <a:bodyPr vert="horz" lIns="3600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656" y="6356351"/>
            <a:ext cx="25327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F5B1F-2296-4677-B9F5-A02297D16777}" type="datetime1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343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2A87-89BD-426E-BD36-73D47B0CB880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0" y="6812281"/>
            <a:ext cx="12204000" cy="45719"/>
          </a:xfrm>
          <a:prstGeom prst="rect">
            <a:avLst/>
          </a:prstGeom>
          <a:solidFill>
            <a:srgbClr val="95373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5656"/>
            <a:ext cx="72000" cy="1044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120000" y="2349000"/>
            <a:ext cx="72000" cy="21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2">
            <a:lum bright="-20000" contrast="40000"/>
          </a:blip>
          <a:stretch>
            <a:fillRect/>
          </a:stretch>
        </p:blipFill>
        <p:spPr>
          <a:xfrm>
            <a:off x="10324143" y="45719"/>
            <a:ext cx="18798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60000"/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2857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1800" b="1" kern="1200">
          <a:solidFill>
            <a:schemeClr val="tx1"/>
          </a:solidFill>
          <a:latin typeface="+mj-lt"/>
          <a:ea typeface="+mn-ea"/>
          <a:cs typeface="Segoe UI" panose="020B0502040204020203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/>
          </a:solidFill>
          <a:latin typeface="+mj-lt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j-lt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j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4C0B9-E5DE-E37B-9BF5-56618C0E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2A87-89BD-426E-BD36-73D47B0CB880}" type="slidenum">
              <a:rPr lang="en-IN" smtClean="0"/>
              <a:t>1</a:t>
            </a:fld>
            <a:endParaRPr lang="en-IN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75AB0EB-3E84-6EFB-C3EF-CBEB151BA81B}"/>
              </a:ext>
            </a:extLst>
          </p:cNvPr>
          <p:cNvSpPr/>
          <p:nvPr/>
        </p:nvSpPr>
        <p:spPr>
          <a:xfrm>
            <a:off x="320040" y="868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201" name="Shape App">
            <a:extLst>
              <a:ext uri="{FF2B5EF4-FFF2-40B4-BE49-F238E27FC236}">
                <a16:creationId xmlns:a16="http://schemas.microsoft.com/office/drawing/2014/main" id="{072D677A-B4A1-4B48-A6E4-783814E864FC}"/>
              </a:ext>
            </a:extLst>
          </p:cNvPr>
          <p:cNvSpPr/>
          <p:nvPr/>
        </p:nvSpPr>
        <p:spPr>
          <a:xfrm>
            <a:off x="320040" y="1234440"/>
            <a:ext cx="1417320" cy="472440"/>
          </a:xfrm>
          <a:prstGeom prst="rect">
            <a:avLst/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Text App">
            <a:extLst>
              <a:ext uri="{FF2B5EF4-FFF2-40B4-BE49-F238E27FC236}">
                <a16:creationId xmlns:a16="http://schemas.microsoft.com/office/drawing/2014/main" id="{501D41F5-3840-4546-9372-5D814930A1A3}"/>
              </a:ext>
            </a:extLst>
          </p:cNvPr>
          <p:cNvSpPr/>
          <p:nvPr/>
        </p:nvSpPr>
        <p:spPr>
          <a:xfrm>
            <a:off x="320040" y="1234440"/>
            <a:ext cx="141732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(Upload + PDF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Validation)</a:t>
            </a:r>
            <a:endParaRPr lang="en-US" sz="950" dirty="0"/>
          </a:p>
        </p:txBody>
      </p:sp>
      <p:sp>
        <p:nvSpPr>
          <p:cNvPr id="203" name="Shape Auto">
            <a:extLst>
              <a:ext uri="{FF2B5EF4-FFF2-40B4-BE49-F238E27FC236}">
                <a16:creationId xmlns:a16="http://schemas.microsoft.com/office/drawing/2014/main" id="{4FDB2F5D-B77B-44BC-B098-5322F63A1A56}"/>
              </a:ext>
            </a:extLst>
          </p:cNvPr>
          <p:cNvSpPr/>
          <p:nvPr/>
        </p:nvSpPr>
        <p:spPr>
          <a:xfrm>
            <a:off x="320040" y="1844040"/>
            <a:ext cx="1417320" cy="472440"/>
          </a:xfrm>
          <a:prstGeom prst="rect">
            <a:avLst/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Text Auto">
            <a:extLst>
              <a:ext uri="{FF2B5EF4-FFF2-40B4-BE49-F238E27FC236}">
                <a16:creationId xmlns:a16="http://schemas.microsoft.com/office/drawing/2014/main" id="{414C8F42-31C6-48E8-8179-446059D75A00}"/>
              </a:ext>
            </a:extLst>
          </p:cNvPr>
          <p:cNvSpPr/>
          <p:nvPr/>
        </p:nvSpPr>
        <p:spPr>
          <a:xfrm>
            <a:off x="320040" y="1844040"/>
            <a:ext cx="141732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Volume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</a:t>
            </a:r>
            <a:endParaRPr lang="en-US" sz="950" dirty="0"/>
          </a:p>
        </p:txBody>
      </p:sp>
      <p:sp>
        <p:nvSpPr>
          <p:cNvPr id="205" name="Shape Cfg">
            <a:extLst>
              <a:ext uri="{FF2B5EF4-FFF2-40B4-BE49-F238E27FC236}">
                <a16:creationId xmlns:a16="http://schemas.microsoft.com/office/drawing/2014/main" id="{42E3E2F0-C5EF-48C5-8F3D-139F6FAF3371}"/>
              </a:ext>
            </a:extLst>
          </p:cNvPr>
          <p:cNvSpPr/>
          <p:nvPr/>
        </p:nvSpPr>
        <p:spPr>
          <a:xfrm>
            <a:off x="320040" y="2453640"/>
            <a:ext cx="1417320" cy="472440"/>
          </a:xfrm>
          <a:prstGeom prst="rect">
            <a:avLst/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6" name="Text Cfg">
            <a:extLst>
              <a:ext uri="{FF2B5EF4-FFF2-40B4-BE49-F238E27FC236}">
                <a16:creationId xmlns:a16="http://schemas.microsoft.com/office/drawing/2014/main" id="{647C2DCA-9EBC-491B-AB44-A128B609C3CF}"/>
              </a:ext>
            </a:extLst>
          </p:cNvPr>
          <p:cNvSpPr/>
          <p:nvPr/>
        </p:nvSpPr>
        <p:spPr>
          <a:xfrm>
            <a:off x="320040" y="2453640"/>
            <a:ext cx="141732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Keyword Reference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(config-defined)</a:t>
            </a:r>
            <a:endParaRPr lang="en-US" sz="950" dirty="0"/>
          </a:p>
        </p:txBody>
      </p:sp>
      <p:sp>
        <p:nvSpPr>
          <p:cNvPr id="207" name="Line Ingest">
            <a:extLst>
              <a:ext uri="{FF2B5EF4-FFF2-40B4-BE49-F238E27FC236}">
                <a16:creationId xmlns:a16="http://schemas.microsoft.com/office/drawing/2014/main" id="{0CC41862-D0F4-4F04-8017-B0E6AC83023F}"/>
              </a:ext>
            </a:extLst>
          </p:cNvPr>
          <p:cNvSpPr/>
          <p:nvPr/>
        </p:nvSpPr>
        <p:spPr>
          <a:xfrm>
            <a:off x="1747526" y="2039919"/>
            <a:ext cx="2286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06202DE-A999-6CEA-6DA4-ECE54AC47510}"/>
              </a:ext>
            </a:extLst>
          </p:cNvPr>
          <p:cNvSpPr/>
          <p:nvPr/>
        </p:nvSpPr>
        <p:spPr>
          <a:xfrm>
            <a:off x="1965960" y="868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154C78D-DFA6-BDC7-A648-6111C9083427}"/>
              </a:ext>
            </a:extLst>
          </p:cNvPr>
          <p:cNvSpPr/>
          <p:nvPr/>
        </p:nvSpPr>
        <p:spPr>
          <a:xfrm>
            <a:off x="1976126" y="1194816"/>
            <a:ext cx="1417320" cy="1121664"/>
          </a:xfrm>
          <a:prstGeom prst="rect">
            <a:avLst/>
          </a:prstGeom>
          <a:solidFill>
            <a:srgbClr val="F0DCD5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4A893F7-7CE5-C087-78C6-045B4F9EAC58}"/>
              </a:ext>
            </a:extLst>
          </p:cNvPr>
          <p:cNvSpPr/>
          <p:nvPr/>
        </p:nvSpPr>
        <p:spPr>
          <a:xfrm>
            <a:off x="1976126" y="1194816"/>
            <a:ext cx="1417320" cy="1121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Run Params</a:t>
            </a:r>
            <a:endParaRPr lang="en-US" sz="1050" b="1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(hash / source_path)</a:t>
            </a:r>
            <a:endParaRPr lang="en-US" sz="1050" b="1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55760B6-FCC1-86D0-E8A1-4E1C281C9845}"/>
              </a:ext>
            </a:extLst>
          </p:cNvPr>
          <p:cNvSpPr/>
          <p:nvPr/>
        </p:nvSpPr>
        <p:spPr>
          <a:xfrm>
            <a:off x="3703319" y="960120"/>
            <a:ext cx="625347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0D9DF52-45D5-4E1D-5948-27B141235949}"/>
              </a:ext>
            </a:extLst>
          </p:cNvPr>
          <p:cNvSpPr/>
          <p:nvPr/>
        </p:nvSpPr>
        <p:spPr>
          <a:xfrm>
            <a:off x="3703320" y="66751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Execution</a:t>
            </a:r>
            <a:endParaRPr lang="en-US" sz="11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7C89683F-B746-3211-88D8-35B9F94A1728}"/>
              </a:ext>
            </a:extLst>
          </p:cNvPr>
          <p:cNvSpPr/>
          <p:nvPr/>
        </p:nvSpPr>
        <p:spPr>
          <a:xfrm>
            <a:off x="3703320" y="1348740"/>
            <a:ext cx="18288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706D30AD-8FEA-375F-F67C-DB9E76454FD6}"/>
              </a:ext>
            </a:extLst>
          </p:cNvPr>
          <p:cNvSpPr/>
          <p:nvPr/>
        </p:nvSpPr>
        <p:spPr>
          <a:xfrm>
            <a:off x="3383280" y="1623060"/>
            <a:ext cx="338328" cy="4572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CPU0">
            <a:extLst>
              <a:ext uri="{FF2B5EF4-FFF2-40B4-BE49-F238E27FC236}">
                <a16:creationId xmlns:a16="http://schemas.microsoft.com/office/drawing/2014/main" id="{4C30C0CF-2666-496C-8F1F-3133117BA207}"/>
              </a:ext>
            </a:extLst>
          </p:cNvPr>
          <p:cNvSpPr/>
          <p:nvPr/>
        </p:nvSpPr>
        <p:spPr>
          <a:xfrm>
            <a:off x="3886200" y="1280160"/>
            <a:ext cx="1064362" cy="777240"/>
          </a:xfrm>
          <a:prstGeom prst="rect">
            <a:avLst/>
          </a:prstGeom>
          <a:solidFill>
            <a:srgbClr val="DCE9DC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CPU0">
            <a:extLst>
              <a:ext uri="{FF2B5EF4-FFF2-40B4-BE49-F238E27FC236}">
                <a16:creationId xmlns:a16="http://schemas.microsoft.com/office/drawing/2014/main" id="{041CA8EB-C872-4EA9-B6DC-6AA4DA3ABC34}"/>
              </a:ext>
            </a:extLst>
          </p:cNvPr>
          <p:cNvSpPr/>
          <p:nvPr/>
        </p:nvSpPr>
        <p:spPr>
          <a:xfrm>
            <a:off x="3886200" y="1280160"/>
            <a:ext cx="106436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(pdfplumber,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mapInPandas)</a:t>
            </a:r>
            <a:endParaRPr lang="en-US" sz="950" dirty="0"/>
          </a:p>
        </p:txBody>
      </p:sp>
      <p:sp>
        <p:nvSpPr>
          <p:cNvPr id="6" name="Line CPU0">
            <a:extLst>
              <a:ext uri="{FF2B5EF4-FFF2-40B4-BE49-F238E27FC236}">
                <a16:creationId xmlns:a16="http://schemas.microsoft.com/office/drawing/2014/main" id="{7C97E1F1-4CB0-482C-9836-168E6BE253EC}"/>
              </a:ext>
            </a:extLst>
          </p:cNvPr>
          <p:cNvSpPr/>
          <p:nvPr/>
        </p:nvSpPr>
        <p:spPr>
          <a:xfrm>
            <a:off x="4950562" y="1668780"/>
            <a:ext cx="164592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CPU1">
            <a:extLst>
              <a:ext uri="{FF2B5EF4-FFF2-40B4-BE49-F238E27FC236}">
                <a16:creationId xmlns:a16="http://schemas.microsoft.com/office/drawing/2014/main" id="{759D2AC2-D329-44AF-A83E-5E300288F5BA}"/>
              </a:ext>
            </a:extLst>
          </p:cNvPr>
          <p:cNvSpPr/>
          <p:nvPr/>
        </p:nvSpPr>
        <p:spPr>
          <a:xfrm>
            <a:off x="5115154" y="1280160"/>
            <a:ext cx="1064362" cy="777240"/>
          </a:xfrm>
          <a:prstGeom prst="rect">
            <a:avLst/>
          </a:prstGeom>
          <a:solidFill>
            <a:srgbClr val="DCE9DC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CPU1">
            <a:extLst>
              <a:ext uri="{FF2B5EF4-FFF2-40B4-BE49-F238E27FC236}">
                <a16:creationId xmlns:a16="http://schemas.microsoft.com/office/drawing/2014/main" id="{189A4306-F117-44D3-8E0E-4737CE3F4F7A}"/>
              </a:ext>
            </a:extLst>
          </p:cNvPr>
          <p:cNvSpPr/>
          <p:nvPr/>
        </p:nvSpPr>
        <p:spPr>
          <a:xfrm>
            <a:off x="5115154" y="1280160"/>
            <a:ext cx="106436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Backfill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(reprocess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stale/failed)</a:t>
            </a:r>
            <a:endParaRPr lang="en-US" sz="950" dirty="0"/>
          </a:p>
        </p:txBody>
      </p:sp>
      <p:sp>
        <p:nvSpPr>
          <p:cNvPr id="9" name="Line CPU1">
            <a:extLst>
              <a:ext uri="{FF2B5EF4-FFF2-40B4-BE49-F238E27FC236}">
                <a16:creationId xmlns:a16="http://schemas.microsoft.com/office/drawing/2014/main" id="{8286143C-78BB-487F-A194-FAFD747DD7BC}"/>
              </a:ext>
            </a:extLst>
          </p:cNvPr>
          <p:cNvSpPr/>
          <p:nvPr/>
        </p:nvSpPr>
        <p:spPr>
          <a:xfrm>
            <a:off x="6179516" y="1668780"/>
            <a:ext cx="164592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CPU2">
            <a:extLst>
              <a:ext uri="{FF2B5EF4-FFF2-40B4-BE49-F238E27FC236}">
                <a16:creationId xmlns:a16="http://schemas.microsoft.com/office/drawing/2014/main" id="{AA89A319-D2F7-4510-8E98-B34C628C2A2C}"/>
              </a:ext>
            </a:extLst>
          </p:cNvPr>
          <p:cNvSpPr/>
          <p:nvPr/>
        </p:nvSpPr>
        <p:spPr>
          <a:xfrm>
            <a:off x="6344108" y="1280160"/>
            <a:ext cx="1064362" cy="777240"/>
          </a:xfrm>
          <a:prstGeom prst="rect">
            <a:avLst/>
          </a:prstGeom>
          <a:solidFill>
            <a:srgbClr val="DCE9DC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Text CPU2">
            <a:extLst>
              <a:ext uri="{FF2B5EF4-FFF2-40B4-BE49-F238E27FC236}">
                <a16:creationId xmlns:a16="http://schemas.microsoft.com/office/drawing/2014/main" id="{5C5168BB-01E3-498E-A588-E5DB8C13DF9F}"/>
              </a:ext>
            </a:extLst>
          </p:cNvPr>
          <p:cNvSpPr/>
          <p:nvPr/>
        </p:nvSpPr>
        <p:spPr>
          <a:xfrm>
            <a:off x="6344108" y="1280160"/>
            <a:ext cx="106436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(regex, fallback)</a:t>
            </a:r>
            <a:endParaRPr lang="en-US" sz="950" dirty="0"/>
          </a:p>
        </p:txBody>
      </p:sp>
      <p:sp>
        <p:nvSpPr>
          <p:cNvPr id="209" name="Line CPU2">
            <a:extLst>
              <a:ext uri="{FF2B5EF4-FFF2-40B4-BE49-F238E27FC236}">
                <a16:creationId xmlns:a16="http://schemas.microsoft.com/office/drawing/2014/main" id="{6F70FFD0-C03A-484E-9871-64543B69A5FF}"/>
              </a:ext>
            </a:extLst>
          </p:cNvPr>
          <p:cNvSpPr/>
          <p:nvPr/>
        </p:nvSpPr>
        <p:spPr>
          <a:xfrm>
            <a:off x="7408470" y="1668780"/>
            <a:ext cx="164592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10" name="Shape CPU3">
            <a:extLst>
              <a:ext uri="{FF2B5EF4-FFF2-40B4-BE49-F238E27FC236}">
                <a16:creationId xmlns:a16="http://schemas.microsoft.com/office/drawing/2014/main" id="{284CFFD1-3C29-400A-BCB0-C2BCDE16F348}"/>
              </a:ext>
            </a:extLst>
          </p:cNvPr>
          <p:cNvSpPr/>
          <p:nvPr/>
        </p:nvSpPr>
        <p:spPr>
          <a:xfrm>
            <a:off x="7573062" y="1280160"/>
            <a:ext cx="1064362" cy="777240"/>
          </a:xfrm>
          <a:prstGeom prst="rect">
            <a:avLst/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1" name="Text CPU3">
            <a:extLst>
              <a:ext uri="{FF2B5EF4-FFF2-40B4-BE49-F238E27FC236}">
                <a16:creationId xmlns:a16="http://schemas.microsoft.com/office/drawing/2014/main" id="{071C1671-A62E-465D-A781-AE7A8413B28C}"/>
              </a:ext>
            </a:extLst>
          </p:cNvPr>
          <p:cNvSpPr/>
          <p:nvPr/>
        </p:nvSpPr>
        <p:spPr>
          <a:xfrm>
            <a:off x="7573062" y="1280160"/>
            <a:ext cx="106436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(order-aware)</a:t>
            </a:r>
            <a:endParaRPr lang="en-US" sz="950" dirty="0"/>
          </a:p>
        </p:txBody>
      </p:sp>
      <p:sp>
        <p:nvSpPr>
          <p:cNvPr id="212" name="Line CPU3">
            <a:extLst>
              <a:ext uri="{FF2B5EF4-FFF2-40B4-BE49-F238E27FC236}">
                <a16:creationId xmlns:a16="http://schemas.microsoft.com/office/drawing/2014/main" id="{7B40BEA0-696D-4AA1-94F6-A0DE907306A7}"/>
              </a:ext>
            </a:extLst>
          </p:cNvPr>
          <p:cNvSpPr/>
          <p:nvPr/>
        </p:nvSpPr>
        <p:spPr>
          <a:xfrm>
            <a:off x="8637424" y="1668780"/>
            <a:ext cx="164592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13" name="Shape CPU4">
            <a:extLst>
              <a:ext uri="{FF2B5EF4-FFF2-40B4-BE49-F238E27FC236}">
                <a16:creationId xmlns:a16="http://schemas.microsoft.com/office/drawing/2014/main" id="{47A4F149-1FCF-447C-9E13-23CDD4867BD7}"/>
              </a:ext>
            </a:extLst>
          </p:cNvPr>
          <p:cNvSpPr/>
          <p:nvPr/>
        </p:nvSpPr>
        <p:spPr>
          <a:xfrm>
            <a:off x="8802016" y="1280160"/>
            <a:ext cx="1064362" cy="777240"/>
          </a:xfrm>
          <a:prstGeom prst="rect">
            <a:avLst/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Text CPU4">
            <a:extLst>
              <a:ext uri="{FF2B5EF4-FFF2-40B4-BE49-F238E27FC236}">
                <a16:creationId xmlns:a16="http://schemas.microsoft.com/office/drawing/2014/main" id="{F0B642B7-B253-48C0-B562-82C1ACFB3EEF}"/>
              </a:ext>
            </a:extLst>
          </p:cNvPr>
          <p:cNvSpPr/>
          <p:nvPr/>
        </p:nvSpPr>
        <p:spPr>
          <a:xfrm>
            <a:off x="8802016" y="1280160"/>
            <a:ext cx="106436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balances)</a:t>
            </a:r>
            <a:endParaRPr lang="en-US" sz="950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1B2ABFEB-6A8A-7676-399D-F7BDB10D59CC}"/>
              </a:ext>
            </a:extLst>
          </p:cNvPr>
          <p:cNvSpPr/>
          <p:nvPr/>
        </p:nvSpPr>
        <p:spPr>
          <a:xfrm>
            <a:off x="3703320" y="2606040"/>
            <a:ext cx="6126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A544A4C-C9E4-5DCA-9B66-185E5E4BD7BC}"/>
              </a:ext>
            </a:extLst>
          </p:cNvPr>
          <p:cNvSpPr/>
          <p:nvPr/>
        </p:nvSpPr>
        <p:spPr>
          <a:xfrm>
            <a:off x="4978908" y="26700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Mechanism (GPU Execution) — Planned</a:t>
            </a:r>
            <a:endParaRPr lang="en-US" sz="9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560E7011-3452-8BB3-763A-29BD2CD19C15}"/>
              </a:ext>
            </a:extLst>
          </p:cNvPr>
          <p:cNvSpPr/>
          <p:nvPr/>
        </p:nvSpPr>
        <p:spPr>
          <a:xfrm>
            <a:off x="4608576" y="2926080"/>
            <a:ext cx="2286000" cy="457200"/>
          </a:xfrm>
          <a:prstGeom prst="rect">
            <a:avLst/>
          </a:prstGeom>
          <a:solidFill>
            <a:srgbClr val="FCEFD9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B7EFC42-5D91-F226-5C0D-1407A39B7426}"/>
              </a:ext>
            </a:extLst>
          </p:cNvPr>
          <p:cNvSpPr/>
          <p:nvPr/>
        </p:nvSpPr>
        <p:spPr>
          <a:xfrm>
            <a:off x="4608576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 (Databricks Foundation Model API)</a:t>
            </a:r>
            <a:endParaRPr lang="en-US" sz="95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A0EACCC2-8CDF-32AA-5AB4-4205B5079C01}"/>
              </a:ext>
            </a:extLst>
          </p:cNvPr>
          <p:cNvSpPr/>
          <p:nvPr/>
        </p:nvSpPr>
        <p:spPr>
          <a:xfrm>
            <a:off x="3886200" y="3657600"/>
            <a:ext cx="1783080" cy="640080"/>
          </a:xfrm>
          <a:prstGeom prst="rect">
            <a:avLst/>
          </a:prstGeom>
          <a:solidFill>
            <a:srgbClr val="DCE4EE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0605CB21-7775-3BCF-793B-D5F29FD73CEF}"/>
              </a:ext>
            </a:extLst>
          </p:cNvPr>
          <p:cNvSpPr/>
          <p:nvPr/>
        </p:nvSpPr>
        <p:spPr>
          <a:xfrm>
            <a:off x="3886200" y="3657600"/>
            <a:ext cx="17830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OCR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(GPU autoscaling)</a:t>
            </a:r>
            <a:endParaRPr lang="en-US" sz="95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66E85107-4573-49A8-09A0-5407AA27946B}"/>
              </a:ext>
            </a:extLst>
          </p:cNvPr>
          <p:cNvSpPr/>
          <p:nvPr/>
        </p:nvSpPr>
        <p:spPr>
          <a:xfrm>
            <a:off x="5833872" y="3657600"/>
            <a:ext cx="1783080" cy="640080"/>
          </a:xfrm>
          <a:prstGeom prst="rect">
            <a:avLst/>
          </a:prstGeom>
          <a:solidFill>
            <a:srgbClr val="DCE4EE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337EB65-2652-9D8D-5CA8-013C8413E74D}"/>
              </a:ext>
            </a:extLst>
          </p:cNvPr>
          <p:cNvSpPr/>
          <p:nvPr/>
        </p:nvSpPr>
        <p:spPr>
          <a:xfrm>
            <a:off x="5833872" y="3657600"/>
            <a:ext cx="17830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/ RAG)</a:t>
            </a:r>
            <a:endParaRPr lang="en-US" sz="95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B5E3AA35-4A27-1F11-E6AF-9E2C4986C036}"/>
              </a:ext>
            </a:extLst>
          </p:cNvPr>
          <p:cNvSpPr/>
          <p:nvPr/>
        </p:nvSpPr>
        <p:spPr>
          <a:xfrm>
            <a:off x="4777740" y="3383280"/>
            <a:ext cx="402336" cy="27432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8E718923-CF79-9FE5-337A-2B9F96366FAC}"/>
              </a:ext>
            </a:extLst>
          </p:cNvPr>
          <p:cNvSpPr/>
          <p:nvPr/>
        </p:nvSpPr>
        <p:spPr>
          <a:xfrm>
            <a:off x="6323076" y="3383280"/>
            <a:ext cx="402336" cy="27432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76BBB858-7C6D-B813-82F7-57ADA0AC5CF7}"/>
              </a:ext>
            </a:extLst>
          </p:cNvPr>
          <p:cNvSpPr/>
          <p:nvPr/>
        </p:nvSpPr>
        <p:spPr>
          <a:xfrm>
            <a:off x="5669280" y="3977640"/>
            <a:ext cx="164592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29CA4C2-3CF5-E1D6-3B7F-7DD1C5CCE6BB}"/>
              </a:ext>
            </a:extLst>
          </p:cNvPr>
          <p:cNvSpPr/>
          <p:nvPr/>
        </p:nvSpPr>
        <p:spPr>
          <a:xfrm>
            <a:off x="3840480" y="43525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calls proxy through the gateway (auth, rate-limits, model version routing, cost tracking); extracted text still flows OCR -&gt; classification underneath.</a:t>
            </a:r>
            <a:endParaRPr lang="en-US" sz="800" dirty="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829EFE8C-E985-8D82-0312-8A827615B7AF}"/>
              </a:ext>
            </a:extLst>
          </p:cNvPr>
          <p:cNvSpPr/>
          <p:nvPr/>
        </p:nvSpPr>
        <p:spPr>
          <a:xfrm>
            <a:off x="4676198" y="2057400"/>
            <a:ext cx="4573" cy="832104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  <a:tailEnd type="arrow"/>
          </a:ln>
        </p:spPr>
        <p:txBody>
          <a:bodyPr/>
          <a:lstStyle/>
          <a:p>
            <a:endParaRPr lang="en-IN" dirty="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F793D9E5-25DC-8B74-C501-38C4F59472FD}"/>
              </a:ext>
            </a:extLst>
          </p:cNvPr>
          <p:cNvSpPr/>
          <p:nvPr/>
        </p:nvSpPr>
        <p:spPr>
          <a:xfrm>
            <a:off x="10195560" y="868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Storage</a:t>
            </a:r>
            <a:endParaRPr lang="en-US" sz="1100" dirty="0"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909B3BA0-4E9D-7C2C-098E-D677689E0061}"/>
              </a:ext>
            </a:extLst>
          </p:cNvPr>
          <p:cNvSpPr/>
          <p:nvPr/>
        </p:nvSpPr>
        <p:spPr>
          <a:xfrm>
            <a:off x="9866376" y="1517904"/>
            <a:ext cx="329184" cy="150876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DB0">
            <a:extLst>
              <a:ext uri="{FF2B5EF4-FFF2-40B4-BE49-F238E27FC236}">
                <a16:creationId xmlns:a16="http://schemas.microsoft.com/office/drawing/2014/main" id="{F24D5487-98A3-48F9-8E58-D30777BF358C}"/>
              </a:ext>
            </a:extLst>
          </p:cNvPr>
          <p:cNvSpPr/>
          <p:nvPr/>
        </p:nvSpPr>
        <p:spPr>
          <a:xfrm>
            <a:off x="10195560" y="1234440"/>
            <a:ext cx="1691640" cy="438912"/>
          </a:xfrm>
          <a:prstGeom prst="rect">
            <a:avLst/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DB0">
            <a:extLst>
              <a:ext uri="{FF2B5EF4-FFF2-40B4-BE49-F238E27FC236}">
                <a16:creationId xmlns:a16="http://schemas.microsoft.com/office/drawing/2014/main" id="{BEB9B68E-D8E0-43DD-9233-A4E9D07E49B1}"/>
              </a:ext>
            </a:extLst>
          </p:cNvPr>
          <p:cNvSpPr/>
          <p:nvPr/>
        </p:nvSpPr>
        <p:spPr>
          <a:xfrm>
            <a:off x="10195560" y="1234440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Delta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extracted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text/tables)</a:t>
            </a:r>
            <a:endParaRPr lang="en-US" sz="850" dirty="0"/>
          </a:p>
        </p:txBody>
      </p:sp>
      <p:sp>
        <p:nvSpPr>
          <p:cNvPr id="20" name="Line DB0">
            <a:extLst>
              <a:ext uri="{FF2B5EF4-FFF2-40B4-BE49-F238E27FC236}">
                <a16:creationId xmlns:a16="http://schemas.microsoft.com/office/drawing/2014/main" id="{2D216521-F420-4D12-82A9-EB9C392419F4}"/>
              </a:ext>
            </a:extLst>
          </p:cNvPr>
          <p:cNvSpPr/>
          <p:nvPr/>
        </p:nvSpPr>
        <p:spPr>
          <a:xfrm>
            <a:off x="11041380" y="1673352"/>
            <a:ext cx="0" cy="73152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DB1">
            <a:extLst>
              <a:ext uri="{FF2B5EF4-FFF2-40B4-BE49-F238E27FC236}">
                <a16:creationId xmlns:a16="http://schemas.microsoft.com/office/drawing/2014/main" id="{00796089-8977-42E3-BECA-6C8FE948C17F}"/>
              </a:ext>
            </a:extLst>
          </p:cNvPr>
          <p:cNvSpPr/>
          <p:nvPr/>
        </p:nvSpPr>
        <p:spPr>
          <a:xfrm>
            <a:off x="10195560" y="1746504"/>
            <a:ext cx="1691640" cy="438912"/>
          </a:xfrm>
          <a:prstGeom prst="rect">
            <a:avLst/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DB1">
            <a:extLst>
              <a:ext uri="{FF2B5EF4-FFF2-40B4-BE49-F238E27FC236}">
                <a16:creationId xmlns:a16="http://schemas.microsoft.com/office/drawing/2014/main" id="{1A611675-7E56-43D7-B20A-CFE5AA38669F}"/>
              </a:ext>
            </a:extLst>
          </p:cNvPr>
          <p:cNvSpPr/>
          <p:nvPr/>
        </p:nvSpPr>
        <p:spPr>
          <a:xfrm>
            <a:off x="10195560" y="1746504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Delta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(validated,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txns)</a:t>
            </a:r>
            <a:endParaRPr lang="en-US" sz="850" dirty="0"/>
          </a:p>
        </p:txBody>
      </p:sp>
      <p:sp>
        <p:nvSpPr>
          <p:cNvPr id="23" name="Line DB1">
            <a:extLst>
              <a:ext uri="{FF2B5EF4-FFF2-40B4-BE49-F238E27FC236}">
                <a16:creationId xmlns:a16="http://schemas.microsoft.com/office/drawing/2014/main" id="{23076538-7B4E-474F-8FBC-55D9332422AF}"/>
              </a:ext>
            </a:extLst>
          </p:cNvPr>
          <p:cNvSpPr/>
          <p:nvPr/>
        </p:nvSpPr>
        <p:spPr>
          <a:xfrm>
            <a:off x="11041380" y="2185416"/>
            <a:ext cx="0" cy="73152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DB2">
            <a:extLst>
              <a:ext uri="{FF2B5EF4-FFF2-40B4-BE49-F238E27FC236}">
                <a16:creationId xmlns:a16="http://schemas.microsoft.com/office/drawing/2014/main" id="{A30A652A-C231-4255-9F87-DD4D1AA34F33}"/>
              </a:ext>
            </a:extLst>
          </p:cNvPr>
          <p:cNvSpPr/>
          <p:nvPr/>
        </p:nvSpPr>
        <p:spPr>
          <a:xfrm>
            <a:off x="10195560" y="2258568"/>
            <a:ext cx="1691640" cy="438912"/>
          </a:xfrm>
          <a:prstGeom prst="rect">
            <a:avLst/>
          </a:prstGeom>
          <a:solidFill>
            <a:srgbClr val="D9D9D9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DB2">
            <a:extLst>
              <a:ext uri="{FF2B5EF4-FFF2-40B4-BE49-F238E27FC236}">
                <a16:creationId xmlns:a16="http://schemas.microsoft.com/office/drawing/2014/main" id="{3DD5C152-D598-409D-AE18-4A0C6A210CE3}"/>
              </a:ext>
            </a:extLst>
          </p:cNvPr>
          <p:cNvSpPr/>
          <p:nvPr/>
        </p:nvSpPr>
        <p:spPr>
          <a:xfrm>
            <a:off x="10195560" y="2258568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Delta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(account-level,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features)</a:t>
            </a:r>
            <a:endParaRPr lang="en-US" sz="850" dirty="0"/>
          </a:p>
        </p:txBody>
      </p:sp>
      <p:sp>
        <p:nvSpPr>
          <p:cNvPr id="26" name="Line DB2">
            <a:extLst>
              <a:ext uri="{FF2B5EF4-FFF2-40B4-BE49-F238E27FC236}">
                <a16:creationId xmlns:a16="http://schemas.microsoft.com/office/drawing/2014/main" id="{B1FC1FEF-8574-49D6-AEE7-B6BE6F7A031E}"/>
              </a:ext>
            </a:extLst>
          </p:cNvPr>
          <p:cNvSpPr/>
          <p:nvPr/>
        </p:nvSpPr>
        <p:spPr>
          <a:xfrm>
            <a:off x="11041380" y="2697480"/>
            <a:ext cx="0" cy="73152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DB3">
            <a:extLst>
              <a:ext uri="{FF2B5EF4-FFF2-40B4-BE49-F238E27FC236}">
                <a16:creationId xmlns:a16="http://schemas.microsoft.com/office/drawing/2014/main" id="{C2644F4B-7D55-4D65-9E4A-06EA51631539}"/>
              </a:ext>
            </a:extLst>
          </p:cNvPr>
          <p:cNvSpPr/>
          <p:nvPr/>
        </p:nvSpPr>
        <p:spPr>
          <a:xfrm>
            <a:off x="10195560" y="2770632"/>
            <a:ext cx="1691640" cy="438912"/>
          </a:xfrm>
          <a:prstGeom prst="rect">
            <a:avLst/>
          </a:prstGeom>
          <a:solidFill>
            <a:srgbClr val="F0DCD5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DB3">
            <a:extLst>
              <a:ext uri="{FF2B5EF4-FFF2-40B4-BE49-F238E27FC236}">
                <a16:creationId xmlns:a16="http://schemas.microsoft.com/office/drawing/2014/main" id="{4C6BBB71-5CE4-4519-A58B-C722D5CA5693}"/>
              </a:ext>
            </a:extLst>
          </p:cNvPr>
          <p:cNvSpPr/>
          <p:nvPr/>
        </p:nvSpPr>
        <p:spPr>
          <a:xfrm>
            <a:off x="10195560" y="2770632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bsa_pipeline_log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 plane: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status/retry/version)</a:t>
            </a:r>
            <a:endParaRPr lang="en-US" sz="850" dirty="0"/>
          </a:p>
        </p:txBody>
      </p:sp>
      <p:sp>
        <p:nvSpPr>
          <p:cNvPr id="29" name="Line DB3">
            <a:extLst>
              <a:ext uri="{FF2B5EF4-FFF2-40B4-BE49-F238E27FC236}">
                <a16:creationId xmlns:a16="http://schemas.microsoft.com/office/drawing/2014/main" id="{F96F403F-4251-4BEC-8141-38071678F4A4}"/>
              </a:ext>
            </a:extLst>
          </p:cNvPr>
          <p:cNvSpPr/>
          <p:nvPr/>
        </p:nvSpPr>
        <p:spPr>
          <a:xfrm>
            <a:off x="11041380" y="3209544"/>
            <a:ext cx="0" cy="73152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DB4">
            <a:extLst>
              <a:ext uri="{FF2B5EF4-FFF2-40B4-BE49-F238E27FC236}">
                <a16:creationId xmlns:a16="http://schemas.microsoft.com/office/drawing/2014/main" id="{F11BE5F0-2ED2-4FF6-ABA5-9D13093851B6}"/>
              </a:ext>
            </a:extLst>
          </p:cNvPr>
          <p:cNvSpPr/>
          <p:nvPr/>
        </p:nvSpPr>
        <p:spPr>
          <a:xfrm>
            <a:off x="10195560" y="3282696"/>
            <a:ext cx="1691640" cy="438912"/>
          </a:xfrm>
          <a:prstGeom prst="rect">
            <a:avLst/>
          </a:prstGeom>
          <a:solidFill>
            <a:srgbClr val="F0DCD5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DB4">
            <a:extLst>
              <a:ext uri="{FF2B5EF4-FFF2-40B4-BE49-F238E27FC236}">
                <a16:creationId xmlns:a16="http://schemas.microsoft.com/office/drawing/2014/main" id="{A5B5BC9B-2CDD-4996-94EF-E5D5BCBC2527}"/>
              </a:ext>
            </a:extLst>
          </p:cNvPr>
          <p:cNvSpPr/>
          <p:nvPr/>
        </p:nvSpPr>
        <p:spPr>
          <a:xfrm>
            <a:off x="10195560" y="3282696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Dashboard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Pattern Analysis</a:t>
            </a:r>
            <a:endParaRPr lang="en-US" sz="850" dirty="0"/>
          </a:p>
        </p:txBody>
      </p:sp>
      <p:sp>
        <p:nvSpPr>
          <p:cNvPr id="48" name="Shape Retry">
            <a:extLst>
              <a:ext uri="{FF2B5EF4-FFF2-40B4-BE49-F238E27FC236}">
                <a16:creationId xmlns:a16="http://schemas.microsoft.com/office/drawing/2014/main" id="{6F59AE05-F13C-4E15-8759-02A5F4DC9FE9}"/>
              </a:ext>
            </a:extLst>
          </p:cNvPr>
          <p:cNvSpPr/>
          <p:nvPr/>
        </p:nvSpPr>
        <p:spPr>
          <a:xfrm>
            <a:off x="320040" y="4826000"/>
            <a:ext cx="11521440" cy="508000"/>
          </a:xfrm>
          <a:prstGeom prst="rect">
            <a:avLst/>
          </a:prstGeom>
          <a:solidFill>
            <a:srgbClr val="DCE9DC"/>
          </a:solidFill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 Retry">
            <a:extLst>
              <a:ext uri="{FF2B5EF4-FFF2-40B4-BE49-F238E27FC236}">
                <a16:creationId xmlns:a16="http://schemas.microsoft.com/office/drawing/2014/main" id="{372131FE-B591-44C5-9108-217DEDCD662F}"/>
              </a:ext>
            </a:extLst>
          </p:cNvPr>
          <p:cNvSpPr/>
          <p:nvPr/>
        </p:nvSpPr>
        <p:spPr>
          <a:xfrm>
            <a:off x="502920" y="4826000"/>
            <a:ext cx="11155680" cy="508000"/>
          </a:xfrm>
          <a:prstGeom prst="rect">
            <a:avLst/>
          </a:prstGeom>
          <a:noFill/>
          <a:ln/>
        </p:spPr>
        <p:txBody>
          <a:bodyPr wrap="square" lIns="0" tIns="18000" rIns="0" bIns="18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5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&amp; Reprocessing (cross-cutting):  </a:t>
            </a: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Per-statement, per-stage status in bsa_pipeline_log (attempt count + logic version); auto-retry on failure (capped), auto-reprocess on code-version bump; NEEDS_REVIEW after repeated failures; a fix cascades and auto-invalidates every downstream stage.</a:t>
            </a:r>
            <a:endParaRPr lang="en-US" sz="1050" dirty="0"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18674839-6650-3A24-3853-94F943224836}"/>
              </a:ext>
            </a:extLst>
          </p:cNvPr>
          <p:cNvSpPr/>
          <p:nvPr/>
        </p:nvSpPr>
        <p:spPr>
          <a:xfrm>
            <a:off x="320040" y="5410200"/>
            <a:ext cx="11521440" cy="508000"/>
          </a:xfrm>
          <a:prstGeom prst="rect">
            <a:avLst/>
          </a:prstGeom>
          <a:solidFill>
            <a:srgbClr val="FFF3D6"/>
          </a:solidFill>
          <a:ln w="12700">
            <a:solidFill>
              <a:srgbClr val="C9A227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3B10A5A7-E503-6A54-D469-94C8C793E016}"/>
              </a:ext>
            </a:extLst>
          </p:cNvPr>
          <p:cNvSpPr/>
          <p:nvPr/>
        </p:nvSpPr>
        <p:spPr>
          <a:xfrm>
            <a:off x="502920" y="5410200"/>
            <a:ext cx="11155680" cy="508000"/>
          </a:xfrm>
          <a:prstGeom prst="rect">
            <a:avLst/>
          </a:prstGeom>
          <a:noFill/>
          <a:ln/>
        </p:spPr>
        <p:txBody>
          <a:bodyPr wrap="square" lIns="0" tIns="18000" rIns="0" bIns="18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8A6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(cross-cutting):  </a:t>
            </a: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v3.10+ (Tracing + Evaluation + OpenTelemetry) — traces latency, extraction confidence, and classification path (regex vs LLM) per statement.</a:t>
            </a:r>
            <a:endParaRPr lang="en-US" sz="1050" dirty="0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A4191976-6F57-7A65-4D4D-0A3E8E15356E}"/>
              </a:ext>
            </a:extLst>
          </p:cNvPr>
          <p:cNvSpPr/>
          <p:nvPr/>
        </p:nvSpPr>
        <p:spPr>
          <a:xfrm>
            <a:off x="320040" y="5994400"/>
            <a:ext cx="11521440" cy="508000"/>
          </a:xfrm>
          <a:prstGeom prst="rect">
            <a:avLst/>
          </a:prstGeom>
          <a:solidFill>
            <a:srgbClr val="E4E9F2"/>
          </a:solidFill>
          <a:ln w="12700">
            <a:solidFill>
              <a:srgbClr val="5B7A9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5425B3C4-C045-18DD-3FAB-77708A3A8A2E}"/>
              </a:ext>
            </a:extLst>
          </p:cNvPr>
          <p:cNvSpPr/>
          <p:nvPr/>
        </p:nvSpPr>
        <p:spPr>
          <a:xfrm>
            <a:off x="502920" y="5994400"/>
            <a:ext cx="11155680" cy="508000"/>
          </a:xfrm>
          <a:prstGeom prst="rect">
            <a:avLst/>
          </a:prstGeom>
          <a:noFill/>
          <a:ln/>
        </p:spPr>
        <p:txBody>
          <a:bodyPr wrap="square" lIns="0" tIns="18000" rIns="0" bIns="18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/ CI-CD:  </a:t>
            </a: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Asset Bundles (DABs) + GitHub Actions — versioned, automated build/test/deploy of jobs, notebooks &amp; model endpoints across dev/pre prod/prod.</a:t>
            </a:r>
            <a:endParaRPr lang="en-US" sz="1050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9257545A-75C7-3131-B351-5F3BC490CCA8}"/>
              </a:ext>
            </a:extLst>
          </p:cNvPr>
          <p:cNvSpPr/>
          <p:nvPr/>
        </p:nvSpPr>
        <p:spPr>
          <a:xfrm>
            <a:off x="562356" y="6591300"/>
            <a:ext cx="1152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via Databricks App upload + Auto Loader (incremental, schema drift-tolerant) · Orchestration via Databricks Workflows with scoped, hash-based reruns · Medallion (Bronze/Silver/Gold) data layer keyed by content hash</a:t>
            </a:r>
            <a:endParaRPr lang="en-US" sz="900" dirty="0"/>
          </a:p>
        </p:txBody>
      </p:sp>
      <p:sp>
        <p:nvSpPr>
          <p:cNvPr id="121" name="Title 1">
            <a:extLst>
              <a:ext uri="{FF2B5EF4-FFF2-40B4-BE49-F238E27FC236}">
                <a16:creationId xmlns:a16="http://schemas.microsoft.com/office/drawing/2014/main" id="{9DFC5EAC-792B-E546-CB69-BC8092327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51" y="101814"/>
            <a:ext cx="9803643" cy="705943"/>
          </a:xfrm>
        </p:spPr>
        <p:txBody>
          <a:bodyPr/>
          <a:lstStyle/>
          <a:p>
            <a:r>
              <a:rPr lang="en-IN" dirty="0"/>
              <a:t>Bank Statement Analyzer</a:t>
            </a:r>
          </a:p>
        </p:txBody>
      </p: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ED55DEE6-047B-62EB-DDDD-81D93490F3F0}"/>
              </a:ext>
            </a:extLst>
          </p:cNvPr>
          <p:cNvCxnSpPr>
            <a:stCxn id="38" idx="3"/>
          </p:cNvCxnSpPr>
          <p:nvPr/>
        </p:nvCxnSpPr>
        <p:spPr>
          <a:xfrm flipV="1">
            <a:off x="7616952" y="2057400"/>
            <a:ext cx="197869" cy="1920240"/>
          </a:xfrm>
          <a:prstGeom prst="bentConnector2">
            <a:avLst/>
          </a:prstGeom>
          <a:noFill/>
          <a:ln w="15875">
            <a:solidFill>
              <a:srgbClr val="808080"/>
            </a:solidFill>
            <a:prstDash val="dash"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298260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B54601-E05D-1751-BEB4-557E0408F473}"/>
              </a:ext>
            </a:extLst>
          </p:cNvPr>
          <p:cNvSpPr/>
          <p:nvPr/>
        </p:nvSpPr>
        <p:spPr>
          <a:xfrm>
            <a:off x="1612900" y="1067835"/>
            <a:ext cx="1917700" cy="825500"/>
          </a:xfrm>
          <a:prstGeom prst="roundRect">
            <a:avLst>
              <a:gd name="adj" fmla="val 12000"/>
            </a:avLst>
          </a:prstGeom>
          <a:solidFill>
            <a:srgbClr val="960000"/>
          </a:solidFill>
          <a:ln>
            <a:noFill/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PDF Extraction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C348E6-519C-EAC4-430D-4E8855AB4475}"/>
              </a:ext>
            </a:extLst>
          </p:cNvPr>
          <p:cNvSpPr/>
          <p:nvPr/>
        </p:nvSpPr>
        <p:spPr>
          <a:xfrm>
            <a:off x="1612900" y="2289683"/>
            <a:ext cx="1917700" cy="94881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1. Pdf Plumber</a:t>
            </a:r>
          </a:p>
          <a:p>
            <a:pPr algn="ctr"/>
            <a:r>
              <a:rPr lang="en-IN" sz="1300" b="1" dirty="0">
                <a:solidFill>
                  <a:srgbClr val="262626"/>
                </a:solidFill>
              </a:rPr>
              <a:t>2. mapInPandas</a:t>
            </a:r>
          </a:p>
          <a:p>
            <a:pPr algn="ctr"/>
            <a:r>
              <a:rPr lang="en-IN" sz="1100" dirty="0">
                <a:solidFill>
                  <a:srgbClr val="6B6B6B"/>
                </a:solidFill>
              </a:rPr>
              <a:t>3. SHA-256 hash: skip already-known content before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09A405-B1C5-2BAA-01CC-0D2C5639C43D}"/>
              </a:ext>
            </a:extLst>
          </p:cNvPr>
          <p:cNvSpPr/>
          <p:nvPr/>
        </p:nvSpPr>
        <p:spPr>
          <a:xfrm>
            <a:off x="1612900" y="3619499"/>
            <a:ext cx="1917700" cy="9014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Confidence Score &gt;=60. route to CPU else fallback to OCR</a:t>
            </a:r>
            <a:endParaRPr lang="en-IN" sz="1300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3185E1-3047-BA75-92CB-A3F5C6E306B7}"/>
              </a:ext>
            </a:extLst>
          </p:cNvPr>
          <p:cNvSpPr/>
          <p:nvPr/>
        </p:nvSpPr>
        <p:spPr>
          <a:xfrm>
            <a:off x="4343400" y="2289684"/>
            <a:ext cx="1917700" cy="825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1. Python Regex</a:t>
            </a:r>
          </a:p>
          <a:p>
            <a:pPr algn="ctr"/>
            <a:r>
              <a:rPr lang="en-US" sz="1100" dirty="0">
                <a:solidFill>
                  <a:srgbClr val="6B6B6B"/>
                </a:solidFill>
              </a:rPr>
              <a:t>Delete + re-insert per statement (line count can change on reprocess)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6909DD-4B33-818A-00A7-919C7ACAE75F}"/>
              </a:ext>
            </a:extLst>
          </p:cNvPr>
          <p:cNvSpPr/>
          <p:nvPr/>
        </p:nvSpPr>
        <p:spPr>
          <a:xfrm>
            <a:off x="4343400" y="3619499"/>
            <a:ext cx="1917700" cy="111760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Only CPU routed statement classified , GPU_FALLBACK held for OCR</a:t>
            </a:r>
            <a:endParaRPr lang="en-IN" sz="1300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E0C10-F7C3-A392-C821-A30F548B7A5E}"/>
              </a:ext>
            </a:extLst>
          </p:cNvPr>
          <p:cNvSpPr/>
          <p:nvPr/>
        </p:nvSpPr>
        <p:spPr>
          <a:xfrm>
            <a:off x="7073900" y="1067835"/>
            <a:ext cx="1917700" cy="825500"/>
          </a:xfrm>
          <a:prstGeom prst="roundRect">
            <a:avLst>
              <a:gd name="adj" fmla="val 12000"/>
            </a:avLst>
          </a:prstGeom>
          <a:solidFill>
            <a:srgbClr val="960000"/>
          </a:solidFill>
          <a:ln>
            <a:noFill/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Validation/ Checksum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83BF20-114B-F9E6-BEA7-450821C21719}"/>
              </a:ext>
            </a:extLst>
          </p:cNvPr>
          <p:cNvSpPr/>
          <p:nvPr/>
        </p:nvSpPr>
        <p:spPr>
          <a:xfrm>
            <a:off x="7073900" y="2289684"/>
            <a:ext cx="1917700" cy="825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Balance Chain Formula</a:t>
            </a:r>
            <a:endParaRPr lang="en-IN" sz="1300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9275D1-770C-6E7A-207C-0820A4B98ACE}"/>
              </a:ext>
            </a:extLst>
          </p:cNvPr>
          <p:cNvSpPr/>
          <p:nvPr/>
        </p:nvSpPr>
        <p:spPr>
          <a:xfrm>
            <a:off x="7073899" y="3619499"/>
            <a:ext cx="2016937" cy="14569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Balance Chain Check:</a:t>
            </a:r>
          </a:p>
          <a:p>
            <a:pPr algn="ctr"/>
            <a:r>
              <a:rPr lang="en-IN" sz="1300" b="1" dirty="0">
                <a:solidFill>
                  <a:srgbClr val="262626"/>
                </a:solidFill>
              </a:rPr>
              <a:t>Prev – Debit + Credit = Balance</a:t>
            </a:r>
          </a:p>
          <a:p>
            <a:pPr algn="ctr"/>
            <a:r>
              <a:rPr lang="en-IN" sz="1300" b="1" dirty="0">
                <a:solidFill>
                  <a:srgbClr val="262626"/>
                </a:solidFill>
              </a:rPr>
              <a:t>(+-0.05 tolerance)</a:t>
            </a:r>
          </a:p>
          <a:p>
            <a:pPr algn="ctr"/>
            <a:r>
              <a:rPr lang="en-IN" sz="1100" dirty="0">
                <a:solidFill>
                  <a:srgbClr val="6B6B6B"/>
                </a:solidFill>
              </a:rPr>
              <a:t>Auto-detects asc/desc order via date compare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1B906E-1C30-F765-78AB-508A6A65F333}"/>
              </a:ext>
            </a:extLst>
          </p:cNvPr>
          <p:cNvSpPr/>
          <p:nvPr/>
        </p:nvSpPr>
        <p:spPr>
          <a:xfrm>
            <a:off x="9613900" y="2289684"/>
            <a:ext cx="1917700" cy="825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PySpark Aggregation</a:t>
            </a:r>
          </a:p>
          <a:p>
            <a:pPr algn="ctr"/>
            <a:r>
              <a:rPr lang="en-US" sz="1300" b="1" dirty="0">
                <a:solidFill>
                  <a:srgbClr val="262626"/>
                </a:solidFill>
              </a:rPr>
              <a:t>+ Window Functions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1B5F8F-0F41-65B8-62FF-FE3E6FAE612A}"/>
              </a:ext>
            </a:extLst>
          </p:cNvPr>
          <p:cNvSpPr/>
          <p:nvPr/>
        </p:nvSpPr>
        <p:spPr>
          <a:xfrm>
            <a:off x="9613900" y="3619499"/>
            <a:ext cx="2016936" cy="120162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Only PASSED/ PARTIAL are promoted in the gold.</a:t>
            </a:r>
          </a:p>
          <a:p>
            <a:pPr algn="ctr"/>
            <a:r>
              <a:rPr lang="en-US" sz="1100" dirty="0">
                <a:solidFill>
                  <a:srgbClr val="6B6B6B"/>
                </a:solidFill>
              </a:rPr>
              <a:t>Opening/Closing balance from first/last txn (order-aware)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DCD5EB-06DC-A87A-DCF0-819229876443}"/>
              </a:ext>
            </a:extLst>
          </p:cNvPr>
          <p:cNvSpPr/>
          <p:nvPr/>
        </p:nvSpPr>
        <p:spPr>
          <a:xfrm>
            <a:off x="1612900" y="4821126"/>
            <a:ext cx="1917700" cy="14569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Confidence Score = text density + date pattern + garble (clean character) + table presence</a:t>
            </a:r>
            <a:endParaRPr lang="en-IN" sz="1300" dirty="0">
              <a:solidFill>
                <a:srgbClr val="FF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47D0FF-3157-72A1-C792-EE6D3EEA66CB}"/>
              </a:ext>
            </a:extLst>
          </p:cNvPr>
          <p:cNvSpPr/>
          <p:nvPr/>
        </p:nvSpPr>
        <p:spPr>
          <a:xfrm>
            <a:off x="4343400" y="1067835"/>
            <a:ext cx="1917700" cy="825500"/>
          </a:xfrm>
          <a:prstGeom prst="roundRect">
            <a:avLst>
              <a:gd name="adj" fmla="val 12000"/>
            </a:avLst>
          </a:prstGeom>
          <a:solidFill>
            <a:srgbClr val="960000"/>
          </a:solidFill>
          <a:ln>
            <a:noFill/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Transaction Classification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C107A4-17B1-0D04-26A4-70D5F8303281}"/>
              </a:ext>
            </a:extLst>
          </p:cNvPr>
          <p:cNvSpPr/>
          <p:nvPr/>
        </p:nvSpPr>
        <p:spPr>
          <a:xfrm>
            <a:off x="9613900" y="1080535"/>
            <a:ext cx="1917700" cy="825500"/>
          </a:xfrm>
          <a:prstGeom prst="roundRect">
            <a:avLst>
              <a:gd name="adj" fmla="val 12000"/>
            </a:avLst>
          </a:prstGeom>
          <a:solidFill>
            <a:srgbClr val="960000"/>
          </a:solidFill>
          <a:ln>
            <a:noFill/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Feature Engineering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62214B-97D0-2C32-AC3B-1DDAE882B26D}"/>
              </a:ext>
            </a:extLst>
          </p:cNvPr>
          <p:cNvSpPr/>
          <p:nvPr/>
        </p:nvSpPr>
        <p:spPr>
          <a:xfrm>
            <a:off x="7006263" y="5418319"/>
            <a:ext cx="2084573" cy="124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Statement classified into PASSED / PARTIAL / UNVERIFIED / FAILED</a:t>
            </a:r>
            <a:endParaRPr lang="en-IN" sz="1300" dirty="0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6E675D-E8A5-525F-87A4-2D274DD0E9FE}"/>
              </a:ext>
            </a:extLst>
          </p:cNvPr>
          <p:cNvSpPr/>
          <p:nvPr/>
        </p:nvSpPr>
        <p:spPr>
          <a:xfrm>
            <a:off x="4374999" y="4990804"/>
            <a:ext cx="1917700" cy="14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262626"/>
                </a:solidFill>
              </a:rPr>
              <a:t>Table Parsing first, fallback to line-based parsing</a:t>
            </a:r>
          </a:p>
          <a:p>
            <a:pPr algn="ctr"/>
            <a:r>
              <a:rPr lang="en-US" sz="1100" dirty="0">
                <a:solidFill>
                  <a:srgbClr val="6B6B6B"/>
                </a:solidFill>
              </a:rPr>
              <a:t>Direction: amount marker → flag column → narration (TO/BY, CR/DR) → category fallback</a:t>
            </a:r>
            <a:endParaRPr lang="en-IN" sz="1100" dirty="0">
              <a:solidFill>
                <a:srgbClr val="FF0000"/>
              </a:solidFill>
            </a:endParaRPr>
          </a:p>
        </p:txBody>
      </p:sp>
      <p:sp>
        <p:nvSpPr>
          <p:cNvPr id="2" name="Label Process">
            <a:extLst>
              <a:ext uri="{FF2B5EF4-FFF2-40B4-BE49-F238E27FC236}">
                <a16:creationId xmlns:a16="http://schemas.microsoft.com/office/drawing/2014/main" id="{CB56B077-864A-41CF-A416-7EAAE6CB3032}"/>
              </a:ext>
            </a:extLst>
          </p:cNvPr>
          <p:cNvSpPr/>
          <p:nvPr/>
        </p:nvSpPr>
        <p:spPr>
          <a:xfrm>
            <a:off x="0" y="1067835"/>
            <a:ext cx="1371600" cy="825500"/>
          </a:xfrm>
          <a:prstGeom prst="roundRect">
            <a:avLst>
              <a:gd name="adj" fmla="val 12000"/>
            </a:avLst>
          </a:prstGeom>
          <a:solidFill>
            <a:srgbClr val="960000"/>
          </a:solidFill>
          <a:ln>
            <a:noFill/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3" name="Label Tools">
            <a:extLst>
              <a:ext uri="{FF2B5EF4-FFF2-40B4-BE49-F238E27FC236}">
                <a16:creationId xmlns:a16="http://schemas.microsoft.com/office/drawing/2014/main" id="{0B9FEC5F-F059-486A-ACF1-C3997A0F2295}"/>
              </a:ext>
            </a:extLst>
          </p:cNvPr>
          <p:cNvSpPr/>
          <p:nvPr/>
        </p:nvSpPr>
        <p:spPr>
          <a:xfrm>
            <a:off x="0" y="2289684"/>
            <a:ext cx="1371600" cy="825500"/>
          </a:xfrm>
          <a:prstGeom prst="roundRect">
            <a:avLst>
              <a:gd name="adj" fmla="val 12000"/>
            </a:avLst>
          </a:prstGeom>
          <a:solidFill>
            <a:srgbClr val="960000"/>
          </a:solidFill>
          <a:ln>
            <a:noFill/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5" name="Label Validation">
            <a:extLst>
              <a:ext uri="{FF2B5EF4-FFF2-40B4-BE49-F238E27FC236}">
                <a16:creationId xmlns:a16="http://schemas.microsoft.com/office/drawing/2014/main" id="{52BF9925-CB25-4F48-9FC7-F1D411666F2E}"/>
              </a:ext>
            </a:extLst>
          </p:cNvPr>
          <p:cNvSpPr/>
          <p:nvPr/>
        </p:nvSpPr>
        <p:spPr>
          <a:xfrm>
            <a:off x="0" y="3619500"/>
            <a:ext cx="1371600" cy="3073400"/>
          </a:xfrm>
          <a:prstGeom prst="roundRect">
            <a:avLst>
              <a:gd name="adj" fmla="val 12000"/>
            </a:avLst>
          </a:prstGeom>
          <a:solidFill>
            <a:srgbClr val="960000"/>
          </a:solidFill>
          <a:ln>
            <a:noFill/>
          </a:ln>
          <a:effectLst>
            <a:outerShdw blurRad="50800" dist="20000" dir="5400000" rotWithShape="0">
              <a:srgbClr val="1F1F1F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6810774D-AE30-43FF-BB1C-CCFF207EC8B0}"/>
              </a:ext>
            </a:extLst>
          </p:cNvPr>
          <p:cNvSpPr txBox="1"/>
          <p:nvPr/>
        </p:nvSpPr>
        <p:spPr>
          <a:xfrm>
            <a:off x="170330" y="125714"/>
            <a:ext cx="10096500" cy="461665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algn="l"/>
            <a:r>
              <a:rPr lang="en-US" sz="2400" b="1" dirty="0">
                <a:solidFill>
                  <a:srgbClr val="960000"/>
                </a:solidFill>
                <a:latin typeface="+mj-lt"/>
                <a:cs typeface="Helvetica" pitchFamily="34" charset="0"/>
              </a:rPr>
              <a:t>Bank Statement Analyzer — Technical Deep Dive</a:t>
            </a:r>
            <a:endParaRPr lang="en-US" dirty="0">
              <a:solidFill>
                <a:srgbClr val="960000"/>
              </a:solidFill>
              <a:latin typeface="+mj-lt"/>
              <a:cs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18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49B56-0732-2F2C-CE1F-58257D06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215FE9E4-5769-3FBB-0903-851B5DF99568}"/>
              </a:ext>
            </a:extLst>
          </p:cNvPr>
          <p:cNvSpPr txBox="1"/>
          <p:nvPr/>
        </p:nvSpPr>
        <p:spPr>
          <a:xfrm>
            <a:off x="170330" y="125714"/>
            <a:ext cx="8790790" cy="461665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960000"/>
                </a:solidFill>
              </a:rPr>
              <a:t>Bank Statement Analyzer – Guardrails &amp; Observability</a:t>
            </a:r>
            <a:endParaRPr lang="en-US" sz="1200" b="1" dirty="0">
              <a:solidFill>
                <a:srgbClr val="96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BFD98F-3AF3-9EB4-46A5-C60DE273DBDE}"/>
              </a:ext>
            </a:extLst>
          </p:cNvPr>
          <p:cNvSpPr txBox="1"/>
          <p:nvPr/>
        </p:nvSpPr>
        <p:spPr>
          <a:xfrm>
            <a:off x="4970299" y="837908"/>
            <a:ext cx="2526383" cy="408623"/>
          </a:xfrm>
          <a:prstGeom prst="roundRect">
            <a:avLst>
              <a:gd name="adj" fmla="val 37646"/>
            </a:avLst>
          </a:prstGeom>
          <a:solidFill>
            <a:srgbClr val="960000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PDF Validation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0FA664-1188-C2EB-460C-B669D710F708}"/>
              </a:ext>
            </a:extLst>
          </p:cNvPr>
          <p:cNvSpPr txBox="1"/>
          <p:nvPr/>
        </p:nvSpPr>
        <p:spPr>
          <a:xfrm>
            <a:off x="4952433" y="2173443"/>
            <a:ext cx="1880649" cy="181965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JavaScript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OpenAction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Acro Form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XFA (xml based)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Embedded Files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Actions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D751DE-B3F9-B99E-52C5-9EFA544AB419}"/>
              </a:ext>
            </a:extLst>
          </p:cNvPr>
          <p:cNvSpPr txBox="1"/>
          <p:nvPr/>
        </p:nvSpPr>
        <p:spPr>
          <a:xfrm>
            <a:off x="7140642" y="2436286"/>
            <a:ext cx="1880649" cy="1293971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Excessive  Object Markers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Incremental Updated (Capped)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E2D230-E250-8FB7-536E-7ACFDC7555DD}"/>
              </a:ext>
            </a:extLst>
          </p:cNvPr>
          <p:cNvSpPr txBox="1"/>
          <p:nvPr/>
        </p:nvSpPr>
        <p:spPr>
          <a:xfrm>
            <a:off x="9328853" y="2078741"/>
            <a:ext cx="2498208" cy="2009061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Strict Parsing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 Count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 Dimensions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Metadata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Decompression Ratio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Extracted text size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9642D0-DBDE-9606-4362-F874C655451F}"/>
              </a:ext>
            </a:extLst>
          </p:cNvPr>
          <p:cNvSpPr txBox="1"/>
          <p:nvPr/>
        </p:nvSpPr>
        <p:spPr>
          <a:xfrm>
            <a:off x="638046" y="1512719"/>
            <a:ext cx="1414021" cy="352008"/>
          </a:xfrm>
          <a:prstGeom prst="roundRect">
            <a:avLst>
              <a:gd name="adj" fmla="val 37143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Identity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6D9491-F7E8-F0A9-E51B-2E8F9F3EC84A}"/>
              </a:ext>
            </a:extLst>
          </p:cNvPr>
          <p:cNvSpPr txBox="1"/>
          <p:nvPr/>
        </p:nvSpPr>
        <p:spPr>
          <a:xfrm>
            <a:off x="2911897" y="1552568"/>
            <a:ext cx="1414021" cy="306467"/>
          </a:xfrm>
          <a:prstGeom prst="roundRect">
            <a:avLst>
              <a:gd name="adj" fmla="val 31293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Format Integrity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7E76A0-51B2-A314-F8C1-20A529BC6E35}"/>
              </a:ext>
            </a:extLst>
          </p:cNvPr>
          <p:cNvSpPr txBox="1"/>
          <p:nvPr/>
        </p:nvSpPr>
        <p:spPr>
          <a:xfrm>
            <a:off x="5185747" y="1546876"/>
            <a:ext cx="1414021" cy="306467"/>
          </a:xfrm>
          <a:prstGeom prst="roundRect">
            <a:avLst>
              <a:gd name="adj" fmla="val 37143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Threat Detection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5B9C2F-FF98-CC31-8922-A29939DD4576}"/>
              </a:ext>
            </a:extLst>
          </p:cNvPr>
          <p:cNvSpPr txBox="1"/>
          <p:nvPr/>
        </p:nvSpPr>
        <p:spPr>
          <a:xfrm>
            <a:off x="7372306" y="1541184"/>
            <a:ext cx="1417320" cy="306467"/>
          </a:xfrm>
          <a:prstGeom prst="roundRect">
            <a:avLst>
              <a:gd name="adj" fmla="val 37143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Resource Control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22FDE2-55CA-0D5C-77F1-8E7D49D46175}"/>
              </a:ext>
            </a:extLst>
          </p:cNvPr>
          <p:cNvSpPr txBox="1"/>
          <p:nvPr/>
        </p:nvSpPr>
        <p:spPr>
          <a:xfrm>
            <a:off x="9870947" y="1535490"/>
            <a:ext cx="1414021" cy="306467"/>
          </a:xfrm>
          <a:prstGeom prst="roundRect">
            <a:avLst>
              <a:gd name="adj" fmla="val 50000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Content Inspection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BC64D6-1057-B5C4-DD39-5BAA8D495895}"/>
              </a:ext>
            </a:extLst>
          </p:cNvPr>
          <p:cNvSpPr txBox="1"/>
          <p:nvPr/>
        </p:nvSpPr>
        <p:spPr>
          <a:xfrm>
            <a:off x="404732" y="6310734"/>
            <a:ext cx="1098330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ObsTitle">
            <a:extLst>
              <a:ext uri="{FF2B5EF4-FFF2-40B4-BE49-F238E27FC236}">
                <a16:creationId xmlns:a16="http://schemas.microsoft.com/office/drawing/2014/main" id="{C2D075B8-1673-BAF7-3E95-33B4189E1C34}"/>
              </a:ext>
            </a:extLst>
          </p:cNvPr>
          <p:cNvSpPr txBox="1"/>
          <p:nvPr/>
        </p:nvSpPr>
        <p:spPr>
          <a:xfrm>
            <a:off x="3875284" y="4275874"/>
            <a:ext cx="4181597" cy="465773"/>
          </a:xfrm>
          <a:prstGeom prst="roundRect">
            <a:avLst>
              <a:gd name="adj" fmla="val 36412"/>
            </a:avLst>
          </a:prstGeom>
          <a:solidFill>
            <a:srgbClr val="960000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0"/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Observability (Native Pipeline)</a:t>
            </a:r>
          </a:p>
        </p:txBody>
      </p:sp>
      <p:sp>
        <p:nvSpPr>
          <p:cNvPr id="48" name="TextBox Obs0H">
            <a:extLst>
              <a:ext uri="{FF2B5EF4-FFF2-40B4-BE49-F238E27FC236}">
                <a16:creationId xmlns:a16="http://schemas.microsoft.com/office/drawing/2014/main" id="{4B15475A-7138-30D8-62BD-85CA8F000C56}"/>
              </a:ext>
            </a:extLst>
          </p:cNvPr>
          <p:cNvSpPr txBox="1"/>
          <p:nvPr/>
        </p:nvSpPr>
        <p:spPr>
          <a:xfrm>
            <a:off x="479981" y="4932062"/>
            <a:ext cx="3395303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Stage Tracking</a:t>
            </a:r>
          </a:p>
        </p:txBody>
      </p:sp>
      <p:sp>
        <p:nvSpPr>
          <p:cNvPr id="50" name="TextBox Obs0B">
            <a:extLst>
              <a:ext uri="{FF2B5EF4-FFF2-40B4-BE49-F238E27FC236}">
                <a16:creationId xmlns:a16="http://schemas.microsoft.com/office/drawing/2014/main" id="{9AB673D8-1422-D029-59F6-9931E1492BF1}"/>
              </a:ext>
            </a:extLst>
          </p:cNvPr>
          <p:cNvSpPr txBox="1"/>
          <p:nvPr/>
        </p:nvSpPr>
        <p:spPr>
          <a:xfrm>
            <a:off x="479981" y="5324532"/>
            <a:ext cx="3395303" cy="79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Per-statement status for all 4 stages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Attempt count + logic_version each run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NEEDS_REVIEW after 3 failed attempts</a:t>
            </a:r>
          </a:p>
        </p:txBody>
      </p:sp>
      <p:sp>
        <p:nvSpPr>
          <p:cNvPr id="52" name="TextBox Obs1H">
            <a:extLst>
              <a:ext uri="{FF2B5EF4-FFF2-40B4-BE49-F238E27FC236}">
                <a16:creationId xmlns:a16="http://schemas.microsoft.com/office/drawing/2014/main" id="{A359D01F-4568-D247-CE1F-2F65E72E9367}"/>
              </a:ext>
            </a:extLst>
          </p:cNvPr>
          <p:cNvSpPr txBox="1"/>
          <p:nvPr/>
        </p:nvSpPr>
        <p:spPr>
          <a:xfrm>
            <a:off x="4075284" y="4932062"/>
            <a:ext cx="3395303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 &amp; Reprocessing</a:t>
            </a:r>
          </a:p>
        </p:txBody>
      </p:sp>
      <p:sp>
        <p:nvSpPr>
          <p:cNvPr id="54" name="TextBox Obs1B">
            <a:extLst>
              <a:ext uri="{FF2B5EF4-FFF2-40B4-BE49-F238E27FC236}">
                <a16:creationId xmlns:a16="http://schemas.microsoft.com/office/drawing/2014/main" id="{B5722F1F-9871-7AE3-022B-A89DC0C66D3B}"/>
              </a:ext>
            </a:extLst>
          </p:cNvPr>
          <p:cNvSpPr txBox="1"/>
          <p:nvPr/>
        </p:nvSpPr>
        <p:spPr>
          <a:xfrm>
            <a:off x="4075284" y="5324532"/>
            <a:ext cx="3395303" cy="79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Auto-retry on failure (capped)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Auto-reprocess on code-version bump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Cascade invalidates downstream stages</a:t>
            </a:r>
          </a:p>
        </p:txBody>
      </p:sp>
      <p:sp>
        <p:nvSpPr>
          <p:cNvPr id="56" name="TextBox Obs2H">
            <a:extLst>
              <a:ext uri="{FF2B5EF4-FFF2-40B4-BE49-F238E27FC236}">
                <a16:creationId xmlns:a16="http://schemas.microsoft.com/office/drawing/2014/main" id="{148A88E2-57CD-4BD1-A14B-9847B48BDBAA}"/>
              </a:ext>
            </a:extLst>
          </p:cNvPr>
          <p:cNvSpPr txBox="1"/>
          <p:nvPr/>
        </p:nvSpPr>
        <p:spPr>
          <a:xfrm>
            <a:off x="7670587" y="4932062"/>
            <a:ext cx="3395303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Job &amp; Task Sync</a:t>
            </a:r>
          </a:p>
        </p:txBody>
      </p:sp>
      <p:sp>
        <p:nvSpPr>
          <p:cNvPr id="58" name="TextBox Obs2B">
            <a:extLst>
              <a:ext uri="{FF2B5EF4-FFF2-40B4-BE49-F238E27FC236}">
                <a16:creationId xmlns:a16="http://schemas.microsoft.com/office/drawing/2014/main" id="{D2398E8B-3E24-8EB6-0884-465655260BF2}"/>
              </a:ext>
            </a:extLst>
          </p:cNvPr>
          <p:cNvSpPr txBox="1"/>
          <p:nvPr/>
        </p:nvSpPr>
        <p:spPr>
          <a:xfrm>
            <a:off x="7670587" y="5324532"/>
            <a:ext cx="3395303" cy="79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Per-task duration + result via Jobs API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row per run_id in pipeline_log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Records job-level success/failure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1B2C1C-75B2-65E8-1C9D-BDAC0685AE08}"/>
              </a:ext>
            </a:extLst>
          </p:cNvPr>
          <p:cNvSpPr txBox="1"/>
          <p:nvPr/>
        </p:nvSpPr>
        <p:spPr>
          <a:xfrm>
            <a:off x="479981" y="6326123"/>
            <a:ext cx="997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Bank Statement Content Verification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Verify the presence of minimum required bank statement keywords within first two pages of the parsed PDF content.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A37AFC-CA14-07A6-C55E-039677C72F28}"/>
              </a:ext>
            </a:extLst>
          </p:cNvPr>
          <p:cNvSpPr txBox="1"/>
          <p:nvPr/>
        </p:nvSpPr>
        <p:spPr>
          <a:xfrm>
            <a:off x="404732" y="2436286"/>
            <a:ext cx="1880649" cy="1293971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Empty Name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Maximum length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Byte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Extension Check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Path Traversal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86C861-0748-E25D-2C47-96AC43430A98}"/>
              </a:ext>
            </a:extLst>
          </p:cNvPr>
          <p:cNvSpPr txBox="1"/>
          <p:nvPr/>
        </p:nvSpPr>
        <p:spPr>
          <a:xfrm>
            <a:off x="2592941" y="2436286"/>
            <a:ext cx="2051932" cy="1293971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Minimum File size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Maximum File size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Pdf Header (%PDF)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EOF Marker (%EOF)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PDF Version</a:t>
            </a:r>
          </a:p>
        </p:txBody>
      </p:sp>
    </p:spTree>
    <p:extLst>
      <p:ext uri="{BB962C8B-B14F-4D97-AF65-F5344CB8AC3E}">
        <p14:creationId xmlns:p14="http://schemas.microsoft.com/office/powerpoint/2010/main" val="408561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115A-3415-39B5-6954-A7A1A933F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04F6BD25-993C-3863-EA1E-B1E3D8F7DD88}"/>
              </a:ext>
            </a:extLst>
          </p:cNvPr>
          <p:cNvSpPr txBox="1"/>
          <p:nvPr/>
        </p:nvSpPr>
        <p:spPr>
          <a:xfrm>
            <a:off x="170330" y="125714"/>
            <a:ext cx="8790790" cy="461665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960000"/>
                </a:solidFill>
              </a:rPr>
              <a:t>Bank Statement Analyzer – Guardrails &amp; Observability</a:t>
            </a:r>
            <a:endParaRPr lang="en-US" sz="1200" b="1" dirty="0">
              <a:solidFill>
                <a:srgbClr val="96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BC337-775B-7AC1-E8BB-815AD96BFB53}"/>
              </a:ext>
            </a:extLst>
          </p:cNvPr>
          <p:cNvSpPr txBox="1"/>
          <p:nvPr/>
        </p:nvSpPr>
        <p:spPr>
          <a:xfrm>
            <a:off x="1670528" y="685800"/>
            <a:ext cx="2526383" cy="469344"/>
          </a:xfrm>
          <a:prstGeom prst="roundRect">
            <a:avLst>
              <a:gd name="adj" fmla="val 37646"/>
            </a:avLst>
          </a:prstGeom>
          <a:solidFill>
            <a:srgbClr val="960000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PDF Gatekeeping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BF7603-6FB7-730C-E18D-7675AB0BD4BF}"/>
              </a:ext>
            </a:extLst>
          </p:cNvPr>
          <p:cNvSpPr txBox="1"/>
          <p:nvPr/>
        </p:nvSpPr>
        <p:spPr>
          <a:xfrm>
            <a:off x="3530600" y="4038600"/>
            <a:ext cx="2921000" cy="20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JavaScript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OpenAction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Acro Form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XFA (xml based)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Embedded Files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External Actions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D4E8FE-1DF4-20E0-62F0-47E058E29EA5}"/>
              </a:ext>
            </a:extLst>
          </p:cNvPr>
          <p:cNvSpPr txBox="1"/>
          <p:nvPr/>
        </p:nvSpPr>
        <p:spPr>
          <a:xfrm>
            <a:off x="4565725" y="1944207"/>
            <a:ext cx="1880649" cy="1293971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Excessive  Object Markers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Incremental Updated (Capped)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1FC412-811F-8FD6-3EE8-55A268E876DC}"/>
              </a:ext>
            </a:extLst>
          </p:cNvPr>
          <p:cNvSpPr txBox="1"/>
          <p:nvPr/>
        </p:nvSpPr>
        <p:spPr>
          <a:xfrm>
            <a:off x="177800" y="4038600"/>
            <a:ext cx="2921000" cy="20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Strict Parsing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 Count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 Dimensions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Metadata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Decompression Ratio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Extracted text size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A23ABB-B2EA-B13E-56E6-C77C43C84BE4}"/>
              </a:ext>
            </a:extLst>
          </p:cNvPr>
          <p:cNvSpPr txBox="1"/>
          <p:nvPr/>
        </p:nvSpPr>
        <p:spPr>
          <a:xfrm>
            <a:off x="528933" y="1397000"/>
            <a:ext cx="1414021" cy="330200"/>
          </a:xfrm>
          <a:prstGeom prst="roundRect">
            <a:avLst>
              <a:gd name="adj" fmla="val 37143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Identity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07A3D6-5101-78CE-7B14-247D945958AC}"/>
              </a:ext>
            </a:extLst>
          </p:cNvPr>
          <p:cNvSpPr txBox="1"/>
          <p:nvPr/>
        </p:nvSpPr>
        <p:spPr>
          <a:xfrm>
            <a:off x="2663985" y="1397000"/>
            <a:ext cx="1414021" cy="330200"/>
          </a:xfrm>
          <a:prstGeom prst="roundRect">
            <a:avLst>
              <a:gd name="adj" fmla="val 31293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Format Integrity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C61135-2C48-5FB1-6725-1CB701B1B70A}"/>
              </a:ext>
            </a:extLst>
          </p:cNvPr>
          <p:cNvSpPr txBox="1"/>
          <p:nvPr/>
        </p:nvSpPr>
        <p:spPr>
          <a:xfrm>
            <a:off x="4284089" y="3492500"/>
            <a:ext cx="1414021" cy="330200"/>
          </a:xfrm>
          <a:prstGeom prst="roundRect">
            <a:avLst>
              <a:gd name="adj" fmla="val 37143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Threat Detection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9F56EB-1827-AAB2-FEA3-4D5F4B404F22}"/>
              </a:ext>
            </a:extLst>
          </p:cNvPr>
          <p:cNvSpPr txBox="1"/>
          <p:nvPr/>
        </p:nvSpPr>
        <p:spPr>
          <a:xfrm>
            <a:off x="4797389" y="1397000"/>
            <a:ext cx="1417320" cy="330200"/>
          </a:xfrm>
          <a:prstGeom prst="roundRect">
            <a:avLst>
              <a:gd name="adj" fmla="val 37143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Resource Control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1A8316-B396-CEB3-9276-F4DF1C1EABDE}"/>
              </a:ext>
            </a:extLst>
          </p:cNvPr>
          <p:cNvSpPr txBox="1"/>
          <p:nvPr/>
        </p:nvSpPr>
        <p:spPr>
          <a:xfrm>
            <a:off x="931289" y="3492500"/>
            <a:ext cx="1414021" cy="330200"/>
          </a:xfrm>
          <a:prstGeom prst="roundRect">
            <a:avLst>
              <a:gd name="adj" fmla="val 50000"/>
            </a:avLst>
          </a:prstGeom>
          <a:solidFill>
            <a:srgbClr val="96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Content Inspection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FE2D49-B6C2-F2D5-B6DA-FFCA30CB2118}"/>
              </a:ext>
            </a:extLst>
          </p:cNvPr>
          <p:cNvSpPr txBox="1"/>
          <p:nvPr/>
        </p:nvSpPr>
        <p:spPr>
          <a:xfrm>
            <a:off x="723055" y="6299099"/>
            <a:ext cx="1098330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ObsTitle">
            <a:extLst>
              <a:ext uri="{FF2B5EF4-FFF2-40B4-BE49-F238E27FC236}">
                <a16:creationId xmlns:a16="http://schemas.microsoft.com/office/drawing/2014/main" id="{3E9EBED0-48C9-90BC-8082-4A49C908DAB0}"/>
              </a:ext>
            </a:extLst>
          </p:cNvPr>
          <p:cNvSpPr txBox="1"/>
          <p:nvPr/>
        </p:nvSpPr>
        <p:spPr>
          <a:xfrm>
            <a:off x="7632842" y="709501"/>
            <a:ext cx="3826817" cy="465773"/>
          </a:xfrm>
          <a:prstGeom prst="roundRect">
            <a:avLst>
              <a:gd name="adj" fmla="val 36412"/>
            </a:avLst>
          </a:prstGeom>
          <a:solidFill>
            <a:srgbClr val="960000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0"/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Observability (Native Pipeline)</a:t>
            </a:r>
          </a:p>
        </p:txBody>
      </p:sp>
      <p:sp>
        <p:nvSpPr>
          <p:cNvPr id="48" name="TextBox Obs0H">
            <a:extLst>
              <a:ext uri="{FF2B5EF4-FFF2-40B4-BE49-F238E27FC236}">
                <a16:creationId xmlns:a16="http://schemas.microsoft.com/office/drawing/2014/main" id="{4911F100-C7DA-9751-4FAA-C3EDD6B5AAF6}"/>
              </a:ext>
            </a:extLst>
          </p:cNvPr>
          <p:cNvSpPr txBox="1"/>
          <p:nvPr/>
        </p:nvSpPr>
        <p:spPr>
          <a:xfrm>
            <a:off x="7848600" y="1460500"/>
            <a:ext cx="3395303" cy="279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Stage Tracking</a:t>
            </a:r>
          </a:p>
        </p:txBody>
      </p:sp>
      <p:sp>
        <p:nvSpPr>
          <p:cNvPr id="50" name="TextBox Obs0B">
            <a:extLst>
              <a:ext uri="{FF2B5EF4-FFF2-40B4-BE49-F238E27FC236}">
                <a16:creationId xmlns:a16="http://schemas.microsoft.com/office/drawing/2014/main" id="{538AC2AB-6C7B-451C-2D37-AE6049E6A16C}"/>
              </a:ext>
            </a:extLst>
          </p:cNvPr>
          <p:cNvSpPr txBox="1"/>
          <p:nvPr/>
        </p:nvSpPr>
        <p:spPr>
          <a:xfrm>
            <a:off x="7848600" y="1917700"/>
            <a:ext cx="3395303" cy="787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Per-statement status for all 4 stages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Attempt count + logic_version each run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NEEDS_REVIEW after 3 failed attempts</a:t>
            </a:r>
          </a:p>
        </p:txBody>
      </p:sp>
      <p:sp>
        <p:nvSpPr>
          <p:cNvPr id="52" name="TextBox Obs1H">
            <a:extLst>
              <a:ext uri="{FF2B5EF4-FFF2-40B4-BE49-F238E27FC236}">
                <a16:creationId xmlns:a16="http://schemas.microsoft.com/office/drawing/2014/main" id="{8CF7A19E-0378-FBAD-4E54-2F08274DE5B7}"/>
              </a:ext>
            </a:extLst>
          </p:cNvPr>
          <p:cNvSpPr txBox="1"/>
          <p:nvPr/>
        </p:nvSpPr>
        <p:spPr>
          <a:xfrm>
            <a:off x="7848600" y="2959100"/>
            <a:ext cx="3395303" cy="279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Retry &amp; Reprocessing</a:t>
            </a:r>
          </a:p>
        </p:txBody>
      </p:sp>
      <p:sp>
        <p:nvSpPr>
          <p:cNvPr id="54" name="TextBox Obs1B">
            <a:extLst>
              <a:ext uri="{FF2B5EF4-FFF2-40B4-BE49-F238E27FC236}">
                <a16:creationId xmlns:a16="http://schemas.microsoft.com/office/drawing/2014/main" id="{18F0DA5F-82D0-F5B7-6B61-9BB7E43EBD42}"/>
              </a:ext>
            </a:extLst>
          </p:cNvPr>
          <p:cNvSpPr txBox="1"/>
          <p:nvPr/>
        </p:nvSpPr>
        <p:spPr>
          <a:xfrm>
            <a:off x="7848600" y="3416300"/>
            <a:ext cx="3395303" cy="787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Auto-retry on failure (capped)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Auto-reprocess on code-version bump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Cascade invalidates downstream stages</a:t>
            </a:r>
          </a:p>
        </p:txBody>
      </p:sp>
      <p:sp>
        <p:nvSpPr>
          <p:cNvPr id="56" name="TextBox Obs2H">
            <a:extLst>
              <a:ext uri="{FF2B5EF4-FFF2-40B4-BE49-F238E27FC236}">
                <a16:creationId xmlns:a16="http://schemas.microsoft.com/office/drawing/2014/main" id="{9F1C1B5C-5295-5573-2742-595F22A0264B}"/>
              </a:ext>
            </a:extLst>
          </p:cNvPr>
          <p:cNvSpPr txBox="1"/>
          <p:nvPr/>
        </p:nvSpPr>
        <p:spPr>
          <a:xfrm>
            <a:off x="7848600" y="4457700"/>
            <a:ext cx="3395303" cy="279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Job &amp; Task Sync</a:t>
            </a:r>
          </a:p>
        </p:txBody>
      </p:sp>
      <p:sp>
        <p:nvSpPr>
          <p:cNvPr id="58" name="TextBox Obs2B">
            <a:extLst>
              <a:ext uri="{FF2B5EF4-FFF2-40B4-BE49-F238E27FC236}">
                <a16:creationId xmlns:a16="http://schemas.microsoft.com/office/drawing/2014/main" id="{8B04011F-2B94-7AA9-EBF1-4D1CEC0C9107}"/>
              </a:ext>
            </a:extLst>
          </p:cNvPr>
          <p:cNvSpPr txBox="1"/>
          <p:nvPr/>
        </p:nvSpPr>
        <p:spPr>
          <a:xfrm>
            <a:off x="7848600" y="4914900"/>
            <a:ext cx="3395303" cy="787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Per-task duration + result via Jobs API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row per run_id in pipeline_log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Records job-level success/failure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D93A76-6382-B975-C156-E0D75B2DF645}"/>
              </a:ext>
            </a:extLst>
          </p:cNvPr>
          <p:cNvSpPr txBox="1"/>
          <p:nvPr/>
        </p:nvSpPr>
        <p:spPr>
          <a:xfrm>
            <a:off x="931289" y="6286399"/>
            <a:ext cx="997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Bank Statement Content Verification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Verify the presence of minimum required bank statement keywords within first two pages of the parsed PDF content.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B342BF-1841-AD2B-E986-FDAF01EFE428}"/>
              </a:ext>
            </a:extLst>
          </p:cNvPr>
          <p:cNvSpPr txBox="1"/>
          <p:nvPr/>
        </p:nvSpPr>
        <p:spPr>
          <a:xfrm>
            <a:off x="295619" y="1944207"/>
            <a:ext cx="1880649" cy="1293971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Empty Name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Maximum length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Byte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Extension Check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Path Traversal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4C7AE2-35CB-0867-C394-AD84789B8A08}"/>
              </a:ext>
            </a:extLst>
          </p:cNvPr>
          <p:cNvSpPr txBox="1"/>
          <p:nvPr/>
        </p:nvSpPr>
        <p:spPr>
          <a:xfrm>
            <a:off x="2345030" y="1944207"/>
            <a:ext cx="2051932" cy="1293971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Minimum File size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Maximum File size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Pdf Header (%PDF)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EOF Marker (%EOF)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PDF Version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EECDD6-B2A9-8ACD-5257-6841B1CEAA74}"/>
              </a:ext>
            </a:extLst>
          </p:cNvPr>
          <p:cNvCxnSpPr>
            <a:cxnSpLocks/>
          </p:cNvCxnSpPr>
          <p:nvPr/>
        </p:nvCxnSpPr>
        <p:spPr>
          <a:xfrm>
            <a:off x="6882762" y="685800"/>
            <a:ext cx="0" cy="5514878"/>
          </a:xfrm>
          <a:prstGeom prst="line">
            <a:avLst/>
          </a:prstGeom>
          <a:ln w="19050" cap="rnd">
            <a:solidFill>
              <a:srgbClr val="C7B9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696975"/>
      </p:ext>
    </p:extLst>
  </p:cSld>
  <p:clrMapOvr>
    <a:masterClrMapping/>
  </p:clrMapOvr>
</p:sld>
</file>

<file path=ppt/theme/theme1.xml><?xml version="1.0" encoding="utf-8"?>
<a:theme xmlns:a="http://schemas.openxmlformats.org/drawingml/2006/main" name="1_IndusInd 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>
          <a:solidFill>
            <a:schemeClr val="accent2">
              <a:lumMod val="75000"/>
            </a:schemeClr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latin typeface="Helvetica" pitchFamily="34" charset="0"/>
            <a:cs typeface="Helvetic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600" dirty="0" smtClean="0">
            <a:latin typeface="Helvetica" pitchFamily="34" charset="0"/>
            <a:cs typeface="Helvetica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PM Meet - Dec'21" id="{5993CFEE-EB1C-465E-8567-196D005A33B3}" vid="{D719346D-7E47-418E-AD59-917C0886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10767D9-8898-481D-A167-D52A0369CF0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aae88f3-8fb7-410e-90f4-aa77e4bc081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22814</TotalTime>
  <Words>874</Words>
  <Application>Microsoft Office PowerPoint</Application>
  <PresentationFormat>Widescreen</PresentationFormat>
  <Paragraphs>178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Courier New</vt:lpstr>
      <vt:lpstr>Helvetica</vt:lpstr>
      <vt:lpstr>Wingdings</vt:lpstr>
      <vt:lpstr>1_IndusInd Default</vt:lpstr>
      <vt:lpstr>Bank Statement Analyzer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Statement Analyser</dc:title>
  <dc:creator>Karthik Ch</dc:creator>
  <cp:lastModifiedBy>Jitesh Rajwani</cp:lastModifiedBy>
  <cp:revision>47</cp:revision>
  <dcterms:created xsi:type="dcterms:W3CDTF">2026-06-25T10:03:20Z</dcterms:created>
  <dcterms:modified xsi:type="dcterms:W3CDTF">2026-09-06T10:09:58Z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LPManualFileClassification">
    <vt:lpwstr>{9D99E835-AC58-428F-B7C3-6569524917EF}</vt:lpwstr>
  </property>
  <property fmtid="{D5CDD505-2E9C-101B-9397-08002B2CF9AE}" pid="3" name="DLPManualFileClassificationLastModifiedBy">
    <vt:lpwstr>IBL\ibl168578</vt:lpwstr>
  </property>
  <property fmtid="{D5CDD505-2E9C-101B-9397-08002B2CF9AE}" pid="4" name="DLPManualFileClassificationLastModificationDate">
    <vt:lpwstr>1782659246</vt:lpwstr>
  </property>
  <property fmtid="{D5CDD505-2E9C-101B-9397-08002B2CF9AE}" pid="5" name="DLPManualFileClassificationVersion">
    <vt:lpwstr>11.11.2.117</vt:lpwstr>
  </property>
</Properties>
</file>