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69696"/>
    <a:srgbClr val="DBF7E0"/>
    <a:srgbClr val="FFCC99"/>
    <a:srgbClr val="FFFFFF"/>
    <a:srgbClr val="9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80" d="100"/>
          <a:sy n="80" d="100"/>
        </p:scale>
        <p:origin x="78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A9FF3-793C-8EA2-D317-3F5879A15A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5E3B4B-06A7-118C-74E9-AAC1E33B19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3A664-1997-B30D-E00C-E113A65C6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36310-4315-4A6E-B822-65E58E21B659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6E93E-4884-017C-1C0A-A698E5CC3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C2CDF1-F389-E5B9-83CE-520859270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2847A-0FA6-4235-BAC3-ABD52A575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361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48ABC-7A25-654C-4EB9-2ED4F4C20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59FE1-834D-CBE1-335B-6C30E567A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60BEB5-B737-0056-4CCC-B5D0F7E72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36310-4315-4A6E-B822-65E58E21B659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DFD64-94E8-88ED-0D7F-87B63A61B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C6827B-3DDD-6CC6-0923-F90F454A4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2847A-0FA6-4235-BAC3-ABD52A575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687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D75B2-25B5-2BA9-5BC1-37A0AC4E7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436023-C40C-2778-8C32-70D107A221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E3B5A1-7F32-D2B7-522D-8978FEDF5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36310-4315-4A6E-B822-65E58E21B659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76EDA2-CB2A-F220-B5E4-B3BCCCB4C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77B7E-3B27-A529-87C7-651FCB8DE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2847A-0FA6-4235-BAC3-ABD52A575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56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2F5A3-8A1E-73BC-4ED3-269FA512D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70370-4840-C289-94AD-DD447D3AC8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7CD924-68FC-2610-C020-E8EA02CA1B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1E0D10-C37F-EE57-7DE1-CD7D05C0A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36310-4315-4A6E-B822-65E58E21B659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AE8A5E-BDE2-456F-7B80-E3B52E0D8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0A1273-4B43-A74B-054F-E234CF898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2847A-0FA6-4235-BAC3-ABD52A575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356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36046-DC69-695D-8B34-6B88480A2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A093E7-7BA6-6828-4EDF-63E0CA0A8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171BD2-08AD-16B6-B11E-17F6629BDD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38336B-BA84-4016-5297-4BCAAE316B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EF793F-0A60-5084-75DC-26DFC71DB3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78AA52-BF9F-1AF2-9170-8E11A9D3B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36310-4315-4A6E-B822-65E58E21B659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1D13A3-9EE4-F867-F423-39F81F7C9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EBF8E6-6470-A643-E218-A3079E37B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2847A-0FA6-4235-BAC3-ABD52A575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219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320AB-1FBC-3B40-21CF-C9205FFF1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82980A-496E-FCA4-A94C-BBCC1CAA3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36310-4315-4A6E-B822-65E58E21B659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A27D72-6FCC-C914-F0A2-0014E523B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C9C83B-465F-ACA5-AEAA-4D7421952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2847A-0FA6-4235-BAC3-ABD52A575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396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54EAAA-2F9B-3172-2D80-E3C170615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36310-4315-4A6E-B822-65E58E21B659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13914D-B398-5D63-A304-42D3B6212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015918-2882-CCB9-74C0-3965BA858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2847A-0FA6-4235-BAC3-ABD52A575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465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03E86-7F2B-0078-20A8-398EA8383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3AD82-93CD-08B3-9028-5C94FC33B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37CDDA-3C95-B147-3865-C4F71A9779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5E221A-49F4-2D51-7B76-DD3463743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36310-4315-4A6E-B822-65E58E21B659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AC302B-5B71-AB67-CAD0-FB7203B8C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B6395C-64EB-24EE-BD0F-CF22D3098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2847A-0FA6-4235-BAC3-ABD52A575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384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CE3E0-9EE5-E841-700E-DB5E2E8FF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765E1D-8579-7FF1-1C7E-E676CAE009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11E490-7900-658A-500C-B5AAC48B25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7EB82F-0B98-7618-8081-165D20A93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36310-4315-4A6E-B822-65E58E21B659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BEA5D3-DB44-1FFE-D83D-FA8C818BD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611657-E92B-FE7A-29E3-BF63678B2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2847A-0FA6-4235-BAC3-ABD52A575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817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51D9D-EFF9-F89D-C575-604D658C4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37F0AC-F3ED-681B-9264-CCEDCF4EF7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722498-0899-7C8F-F822-F69BA4571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36310-4315-4A6E-B822-65E58E21B659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6262E-60A5-9AA4-E0C2-4CF93F8DF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FCFE6-6500-1C41-D808-47B7425C8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2847A-0FA6-4235-BAC3-ABD52A575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313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842835-273A-CE28-6A1F-22C512507D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F522ED-C283-3E51-5C60-5019DB5AB4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ED290-325A-1F28-623B-DEED3201C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36310-4315-4A6E-B822-65E58E21B659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EC45D-0A16-9619-81A3-865DAA113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175C8-CD83-D15F-369A-7DB772E06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2847A-0FA6-4235-BAC3-ABD52A575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980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D8B646-1DBA-3626-27B0-15EEA23D1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78AEEA-FD45-8CDE-1D3E-DBF28B4DC2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B68A80-60D0-8BF0-FDB8-8EAE26CE52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E36310-4315-4A6E-B822-65E58E21B659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5C3486-7659-A11E-E0D8-D7679B184C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B765F-E26E-ACB7-7682-A1517B2044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A2847A-0FA6-4235-BAC3-ABD52A575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413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E5F5697-3617-A669-E5F7-FE62EC301EDF}"/>
              </a:ext>
            </a:extLst>
          </p:cNvPr>
          <p:cNvSpPr txBox="1"/>
          <p:nvPr/>
        </p:nvSpPr>
        <p:spPr>
          <a:xfrm>
            <a:off x="0" y="113121"/>
            <a:ext cx="52601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960000"/>
                </a:solidFill>
              </a:rPr>
              <a:t>Bank Statement Analyzer</a:t>
            </a:r>
            <a:endParaRPr lang="en-US" b="1" dirty="0">
              <a:solidFill>
                <a:srgbClr val="96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44B2EB6-590F-306C-575F-7BC7DAAEDF9C}"/>
              </a:ext>
            </a:extLst>
          </p:cNvPr>
          <p:cNvSpPr txBox="1"/>
          <p:nvPr/>
        </p:nvSpPr>
        <p:spPr>
          <a:xfrm>
            <a:off x="270922" y="2574196"/>
            <a:ext cx="1880649" cy="18196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Empty 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Maximum length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Null Byte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Extension Check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Path Traversal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3AE058-875C-F09F-53D5-D25428CCE705}"/>
              </a:ext>
            </a:extLst>
          </p:cNvPr>
          <p:cNvSpPr txBox="1"/>
          <p:nvPr/>
        </p:nvSpPr>
        <p:spPr>
          <a:xfrm>
            <a:off x="4832808" y="1074036"/>
            <a:ext cx="2526383" cy="369332"/>
          </a:xfrm>
          <a:prstGeom prst="rect">
            <a:avLst/>
          </a:prstGeom>
          <a:solidFill>
            <a:schemeClr val="bg2">
              <a:lumMod val="90000"/>
            </a:schemeClr>
          </a:solid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PDF Validation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8FFE2B5-BC68-B143-8F04-FB8DDEE250EC}"/>
              </a:ext>
            </a:extLst>
          </p:cNvPr>
          <p:cNvSpPr txBox="1"/>
          <p:nvPr/>
        </p:nvSpPr>
        <p:spPr>
          <a:xfrm>
            <a:off x="2446091" y="2574196"/>
            <a:ext cx="1883664" cy="18196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Minimum File 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Maximum File 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Pdf Header (%PDF)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EOF Marker (%EOF)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PDF Version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0D8AD02-AF05-FA49-67C1-968C4E00AF0C}"/>
              </a:ext>
            </a:extLst>
          </p:cNvPr>
          <p:cNvSpPr txBox="1"/>
          <p:nvPr/>
        </p:nvSpPr>
        <p:spPr>
          <a:xfrm>
            <a:off x="4648529" y="2574196"/>
            <a:ext cx="1880649" cy="18196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buFont typeface="Arial" panose="020B0604020202020204" pitchFamily="34" charset="0"/>
              <a:buChar char="•"/>
              <a:defRPr sz="1400"/>
            </a:lvl1pPr>
          </a:lstStyle>
          <a:p>
            <a:r>
              <a:rPr lang="en-US" dirty="0"/>
              <a:t>JavaScript</a:t>
            </a:r>
          </a:p>
          <a:p>
            <a:r>
              <a:rPr lang="en-US" dirty="0"/>
              <a:t>OpenAction</a:t>
            </a:r>
          </a:p>
          <a:p>
            <a:r>
              <a:rPr lang="en-US" dirty="0"/>
              <a:t>Acro Form</a:t>
            </a:r>
          </a:p>
          <a:p>
            <a:r>
              <a:rPr lang="en-US" dirty="0"/>
              <a:t>XFA (xml based)</a:t>
            </a:r>
          </a:p>
          <a:p>
            <a:r>
              <a:rPr lang="en-US" dirty="0"/>
              <a:t>Embedded Files</a:t>
            </a:r>
          </a:p>
          <a:p>
            <a:r>
              <a:rPr lang="en-US" dirty="0"/>
              <a:t>External Actions</a:t>
            </a:r>
          </a:p>
          <a:p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66E8491-4E4B-2460-92CE-02670DA7EEF1}"/>
              </a:ext>
            </a:extLst>
          </p:cNvPr>
          <p:cNvSpPr txBox="1"/>
          <p:nvPr/>
        </p:nvSpPr>
        <p:spPr>
          <a:xfrm>
            <a:off x="6847952" y="2574196"/>
            <a:ext cx="1880649" cy="1600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Excessive  Object Markers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Incremental Updated (Capped)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0A67E98-B5B4-D6A2-B7B3-03622F12EE42}"/>
              </a:ext>
            </a:extLst>
          </p:cNvPr>
          <p:cNvSpPr txBox="1"/>
          <p:nvPr/>
        </p:nvSpPr>
        <p:spPr>
          <a:xfrm>
            <a:off x="9047376" y="2576083"/>
            <a:ext cx="2623010" cy="18158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Strict Parsing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Encryption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Page Count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Page Dimensions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Metadata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Decompression Ratio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Extracted text 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BECEDF7-00B7-613A-CBFF-54E7059375F7}"/>
              </a:ext>
            </a:extLst>
          </p:cNvPr>
          <p:cNvSpPr txBox="1"/>
          <p:nvPr/>
        </p:nvSpPr>
        <p:spPr>
          <a:xfrm>
            <a:off x="479981" y="1982613"/>
            <a:ext cx="1414021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ctr"/>
            <a:r>
              <a:rPr lang="en-US" dirty="0"/>
              <a:t>File Identity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86228FF-CFB6-EAAB-FFA2-A733CFED3FFF}"/>
              </a:ext>
            </a:extLst>
          </p:cNvPr>
          <p:cNvSpPr txBox="1"/>
          <p:nvPr/>
        </p:nvSpPr>
        <p:spPr>
          <a:xfrm>
            <a:off x="2679404" y="1982613"/>
            <a:ext cx="1414021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ctr"/>
            <a:r>
              <a:rPr lang="en-US" dirty="0"/>
              <a:t>Format Integrity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AB45F5C-E871-BF7F-05AD-1EA6F7894D5D}"/>
              </a:ext>
            </a:extLst>
          </p:cNvPr>
          <p:cNvSpPr txBox="1"/>
          <p:nvPr/>
        </p:nvSpPr>
        <p:spPr>
          <a:xfrm>
            <a:off x="4881842" y="1982613"/>
            <a:ext cx="1414021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ctr"/>
            <a:r>
              <a:rPr lang="en-US" dirty="0"/>
              <a:t>Threat Detection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AF29195-9955-D9F6-16D2-3148BDBB24B5}"/>
              </a:ext>
            </a:extLst>
          </p:cNvPr>
          <p:cNvSpPr txBox="1"/>
          <p:nvPr/>
        </p:nvSpPr>
        <p:spPr>
          <a:xfrm>
            <a:off x="7081265" y="1982613"/>
            <a:ext cx="1417320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ctr"/>
            <a:r>
              <a:rPr lang="en-US" dirty="0"/>
              <a:t>Resource Control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201876B-AC1D-A3BF-67A7-D55D9FD93CD9}"/>
              </a:ext>
            </a:extLst>
          </p:cNvPr>
          <p:cNvSpPr txBox="1"/>
          <p:nvPr/>
        </p:nvSpPr>
        <p:spPr>
          <a:xfrm>
            <a:off x="9651870" y="1982613"/>
            <a:ext cx="1414021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Content Inspection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2F15541-B6AC-0036-9678-E371FA4852EE}"/>
              </a:ext>
            </a:extLst>
          </p:cNvPr>
          <p:cNvSpPr txBox="1"/>
          <p:nvPr/>
        </p:nvSpPr>
        <p:spPr>
          <a:xfrm>
            <a:off x="270922" y="5993152"/>
            <a:ext cx="10983307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endParaRPr lang="en-US" sz="1200" i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176D525-38CB-0A25-6C90-3BFFA12D775D}"/>
              </a:ext>
            </a:extLst>
          </p:cNvPr>
          <p:cNvSpPr txBox="1"/>
          <p:nvPr/>
        </p:nvSpPr>
        <p:spPr>
          <a:xfrm>
            <a:off x="479981" y="6008541"/>
            <a:ext cx="99784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i="1" dirty="0"/>
              <a:t>Bank Statement Content Verification</a:t>
            </a:r>
            <a:r>
              <a:rPr lang="en-US" sz="1600" b="1" i="1" dirty="0"/>
              <a:t>:</a:t>
            </a:r>
            <a:r>
              <a:rPr lang="en-US" sz="1600" i="1" dirty="0"/>
              <a:t> </a:t>
            </a:r>
            <a:r>
              <a:rPr lang="en-US" sz="1200" i="1" dirty="0"/>
              <a:t>Verify the presence of minimum required bank statement keywords within first two pages of the parsed PDF content.</a:t>
            </a:r>
          </a:p>
        </p:txBody>
      </p:sp>
    </p:spTree>
    <p:extLst>
      <p:ext uri="{BB962C8B-B14F-4D97-AF65-F5344CB8AC3E}">
        <p14:creationId xmlns:p14="http://schemas.microsoft.com/office/powerpoint/2010/main" val="30902216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A0589-D87B-F793-F303-C42D4D087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5A2393-4195-8375-1914-ABF2ED29C2BB}"/>
              </a:ext>
            </a:extLst>
          </p:cNvPr>
          <p:cNvSpPr txBox="1"/>
          <p:nvPr/>
        </p:nvSpPr>
        <p:spPr>
          <a:xfrm>
            <a:off x="0" y="113121"/>
            <a:ext cx="52601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960000"/>
                </a:solidFill>
              </a:rPr>
              <a:t>Bank Statement Analyzer</a:t>
            </a:r>
            <a:endParaRPr lang="en-US" b="1" dirty="0">
              <a:solidFill>
                <a:srgbClr val="96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A13078F-0613-5DA9-050A-F0E814E7ADD5}"/>
              </a:ext>
            </a:extLst>
          </p:cNvPr>
          <p:cNvSpPr txBox="1"/>
          <p:nvPr/>
        </p:nvSpPr>
        <p:spPr>
          <a:xfrm>
            <a:off x="270922" y="2574196"/>
            <a:ext cx="1880649" cy="18196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Empty 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Maximum length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Null Byte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Extension Check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Path Traversal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BBE01C-063B-D9F2-2D29-47AE78ECF4DB}"/>
              </a:ext>
            </a:extLst>
          </p:cNvPr>
          <p:cNvSpPr txBox="1"/>
          <p:nvPr/>
        </p:nvSpPr>
        <p:spPr>
          <a:xfrm>
            <a:off x="4832809" y="1033165"/>
            <a:ext cx="2526383" cy="369332"/>
          </a:xfrm>
          <a:prstGeom prst="rect">
            <a:avLst/>
          </a:prstGeom>
          <a:solidFill>
            <a:srgbClr val="969696"/>
          </a:solid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PDF Validation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F735E91-EE36-155C-E69D-357F401457C3}"/>
              </a:ext>
            </a:extLst>
          </p:cNvPr>
          <p:cNvSpPr txBox="1"/>
          <p:nvPr/>
        </p:nvSpPr>
        <p:spPr>
          <a:xfrm>
            <a:off x="2446091" y="2574196"/>
            <a:ext cx="1883664" cy="18196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Minimum File 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Maximum File 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Pdf Header (%PDF)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EOF Marker (%EOF)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PDF Version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92CC488-7727-96ED-6888-A21735C4BF46}"/>
              </a:ext>
            </a:extLst>
          </p:cNvPr>
          <p:cNvSpPr txBox="1"/>
          <p:nvPr/>
        </p:nvSpPr>
        <p:spPr>
          <a:xfrm>
            <a:off x="4648529" y="2574196"/>
            <a:ext cx="1880649" cy="18196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buFont typeface="Arial" panose="020B0604020202020204" pitchFamily="34" charset="0"/>
              <a:buChar char="•"/>
              <a:defRPr sz="1400"/>
            </a:lvl1pPr>
          </a:lstStyle>
          <a:p>
            <a:r>
              <a:rPr lang="en-US" dirty="0"/>
              <a:t>JavaScript</a:t>
            </a:r>
          </a:p>
          <a:p>
            <a:r>
              <a:rPr lang="en-US" dirty="0"/>
              <a:t>OpenAction</a:t>
            </a:r>
          </a:p>
          <a:p>
            <a:r>
              <a:rPr lang="en-US" dirty="0"/>
              <a:t>Acro Form</a:t>
            </a:r>
          </a:p>
          <a:p>
            <a:r>
              <a:rPr lang="en-US" dirty="0"/>
              <a:t>XFA (xml based)</a:t>
            </a:r>
          </a:p>
          <a:p>
            <a:r>
              <a:rPr lang="en-US" dirty="0"/>
              <a:t>Embedded Files</a:t>
            </a:r>
          </a:p>
          <a:p>
            <a:r>
              <a:rPr lang="en-US" dirty="0"/>
              <a:t>External Actions</a:t>
            </a:r>
          </a:p>
          <a:p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0CDD441-058A-C0E3-0390-E62EA48C1565}"/>
              </a:ext>
            </a:extLst>
          </p:cNvPr>
          <p:cNvSpPr txBox="1"/>
          <p:nvPr/>
        </p:nvSpPr>
        <p:spPr>
          <a:xfrm>
            <a:off x="6847952" y="2574196"/>
            <a:ext cx="1880649" cy="1600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Excessive  Object Markers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Incremental Updated (Capped)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30584FB-AD35-EC2F-4087-1D7CAB5C7F32}"/>
              </a:ext>
            </a:extLst>
          </p:cNvPr>
          <p:cNvSpPr txBox="1"/>
          <p:nvPr/>
        </p:nvSpPr>
        <p:spPr>
          <a:xfrm>
            <a:off x="9047376" y="2576083"/>
            <a:ext cx="2623010" cy="18158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Strict Parsing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Encryption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Page Count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Page Dimensions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Metadata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Decompression Ratio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Extracted text 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6AECFD1-22BC-DD13-163C-8CF1EF015CF5}"/>
              </a:ext>
            </a:extLst>
          </p:cNvPr>
          <p:cNvSpPr txBox="1"/>
          <p:nvPr/>
        </p:nvSpPr>
        <p:spPr>
          <a:xfrm>
            <a:off x="479981" y="1982613"/>
            <a:ext cx="1414021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ctr"/>
            <a:r>
              <a:rPr lang="en-US" dirty="0"/>
              <a:t>File Identity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DF662E3-6F1A-84FE-A389-EC9A3AA919F3}"/>
              </a:ext>
            </a:extLst>
          </p:cNvPr>
          <p:cNvSpPr txBox="1"/>
          <p:nvPr/>
        </p:nvSpPr>
        <p:spPr>
          <a:xfrm>
            <a:off x="2679404" y="1982613"/>
            <a:ext cx="1414021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ctr"/>
            <a:r>
              <a:rPr lang="en-US" dirty="0"/>
              <a:t>Format Integrity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1CDE97D-692B-8BB0-7FD7-78EB44530527}"/>
              </a:ext>
            </a:extLst>
          </p:cNvPr>
          <p:cNvSpPr txBox="1"/>
          <p:nvPr/>
        </p:nvSpPr>
        <p:spPr>
          <a:xfrm>
            <a:off x="4881842" y="1982613"/>
            <a:ext cx="1414021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ctr"/>
            <a:r>
              <a:rPr lang="en-US" dirty="0"/>
              <a:t>Threat Detection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A498B5E-B823-36F9-E168-B4B33EF3E973}"/>
              </a:ext>
            </a:extLst>
          </p:cNvPr>
          <p:cNvSpPr txBox="1"/>
          <p:nvPr/>
        </p:nvSpPr>
        <p:spPr>
          <a:xfrm>
            <a:off x="7081265" y="1982613"/>
            <a:ext cx="1417320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ctr"/>
            <a:r>
              <a:rPr lang="en-US" dirty="0"/>
              <a:t>Resource Control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3D9AC94-041C-8D6A-D38D-19754250D2FA}"/>
              </a:ext>
            </a:extLst>
          </p:cNvPr>
          <p:cNvSpPr txBox="1"/>
          <p:nvPr/>
        </p:nvSpPr>
        <p:spPr>
          <a:xfrm>
            <a:off x="9651870" y="1982613"/>
            <a:ext cx="1414021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Content Inspection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52E6638-645C-46AE-2FE0-AC4EBB917782}"/>
              </a:ext>
            </a:extLst>
          </p:cNvPr>
          <p:cNvSpPr txBox="1"/>
          <p:nvPr/>
        </p:nvSpPr>
        <p:spPr>
          <a:xfrm>
            <a:off x="270922" y="5993152"/>
            <a:ext cx="10983307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endParaRPr lang="en-US" sz="1200" i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C0D170B-C892-EE93-8129-756B40CF4B50}"/>
              </a:ext>
            </a:extLst>
          </p:cNvPr>
          <p:cNvSpPr txBox="1"/>
          <p:nvPr/>
        </p:nvSpPr>
        <p:spPr>
          <a:xfrm>
            <a:off x="479981" y="6008541"/>
            <a:ext cx="99784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i="1" dirty="0"/>
              <a:t>Bank Statement Content Verification</a:t>
            </a:r>
            <a:r>
              <a:rPr lang="en-US" sz="1600" b="1" i="1" dirty="0"/>
              <a:t>:</a:t>
            </a:r>
            <a:r>
              <a:rPr lang="en-US" sz="1600" i="1" dirty="0"/>
              <a:t> </a:t>
            </a:r>
            <a:r>
              <a:rPr lang="en-US" sz="1200" i="1" dirty="0"/>
              <a:t>Verify the presence of minimum required bank statement keywords within first two pages of the parsed PDF content.</a:t>
            </a:r>
          </a:p>
        </p:txBody>
      </p:sp>
    </p:spTree>
    <p:extLst>
      <p:ext uri="{BB962C8B-B14F-4D97-AF65-F5344CB8AC3E}">
        <p14:creationId xmlns:p14="http://schemas.microsoft.com/office/powerpoint/2010/main" val="878694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202</Words>
  <Application>Microsoft Office PowerPoint</Application>
  <PresentationFormat>Widescreen</PresentationFormat>
  <Paragraphs>66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Jitesh Rajwani</dc:creator>
  <cp:lastModifiedBy>Jitesh Rajwani</cp:lastModifiedBy>
  <cp:revision>1</cp:revision>
  <dcterms:created xsi:type="dcterms:W3CDTF">2026-09-03T17:25:18Z</dcterms:created>
  <dcterms:modified xsi:type="dcterms:W3CDTF">2026-09-03T17:25:18Z</dcterms:modified>
</cp:coreProperties>
</file>